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  <p:sldMasterId id="2147483666" r:id="rId3"/>
  </p:sldMasterIdLst>
  <p:notesMasterIdLst>
    <p:notesMasterId r:id="rId18"/>
  </p:notesMasterIdLst>
  <p:sldIdLst>
    <p:sldId id="256" r:id="rId4"/>
    <p:sldId id="257" r:id="rId5"/>
    <p:sldId id="258" r:id="rId6"/>
    <p:sldId id="270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embeddedFontLst>
    <p:embeddedFont>
      <p:font typeface="Play" panose="020B0604020202020204" charset="0"/>
      <p:regular r:id="rId19"/>
      <p:bold r:id="rId20"/>
    </p:embeddedFont>
    <p:embeddedFont>
      <p:font typeface="Quattrocento Sans" panose="020B0502050000020003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0MX9DDk+ancI6oIjM5Rbi/7n6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B0AC6C-658A-41D3-B383-2284FE4AAABE}" v="4" dt="2026-01-29T02:15:40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3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6.fntdata"/><Relationship Id="rId32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4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derico   Leal Quintero" userId="33fa458c-48bb-483d-b6c4-5e33e789b225" providerId="ADAL" clId="{12537E50-C9EA-4147-B56A-811967D6F021}"/>
    <pc:docChg chg="undo custSel addSld delSld modSld">
      <pc:chgData name="Federico   Leal Quintero" userId="33fa458c-48bb-483d-b6c4-5e33e789b225" providerId="ADAL" clId="{12537E50-C9EA-4147-B56A-811967D6F021}" dt="2026-01-29T02:18:41.968" v="132" actId="1037"/>
      <pc:docMkLst>
        <pc:docMk/>
      </pc:docMkLst>
      <pc:sldChg chg="delSp modSp mod">
        <pc:chgData name="Federico   Leal Quintero" userId="33fa458c-48bb-483d-b6c4-5e33e789b225" providerId="ADAL" clId="{12537E50-C9EA-4147-B56A-811967D6F021}" dt="2026-01-29T02:14:27.023" v="34" actId="478"/>
        <pc:sldMkLst>
          <pc:docMk/>
          <pc:sldMk cId="0" sldId="256"/>
        </pc:sldMkLst>
        <pc:spChg chg="mod">
          <ac:chgData name="Federico   Leal Quintero" userId="33fa458c-48bb-483d-b6c4-5e33e789b225" providerId="ADAL" clId="{12537E50-C9EA-4147-B56A-811967D6F021}" dt="2026-01-29T02:14:23.439" v="33" actId="20577"/>
          <ac:spMkLst>
            <pc:docMk/>
            <pc:sldMk cId="0" sldId="256"/>
            <ac:spMk id="191" creationId="{00000000-0000-0000-0000-000000000000}"/>
          </ac:spMkLst>
        </pc:spChg>
        <pc:spChg chg="del">
          <ac:chgData name="Federico   Leal Quintero" userId="33fa458c-48bb-483d-b6c4-5e33e789b225" providerId="ADAL" clId="{12537E50-C9EA-4147-B56A-811967D6F021}" dt="2026-01-29T02:14:27.023" v="34" actId="478"/>
          <ac:spMkLst>
            <pc:docMk/>
            <pc:sldMk cId="0" sldId="256"/>
            <ac:spMk id="197" creationId="{00000000-0000-0000-0000-000000000000}"/>
          </ac:spMkLst>
        </pc:spChg>
        <pc:picChg chg="del">
          <ac:chgData name="Federico   Leal Quintero" userId="33fa458c-48bb-483d-b6c4-5e33e789b225" providerId="ADAL" clId="{12537E50-C9EA-4147-B56A-811967D6F021}" dt="2026-01-29T02:14:15.626" v="13" actId="478"/>
          <ac:picMkLst>
            <pc:docMk/>
            <pc:sldMk cId="0" sldId="256"/>
            <ac:picMk id="192" creationId="{00000000-0000-0000-0000-000000000000}"/>
          </ac:picMkLst>
        </pc:picChg>
        <pc:picChg chg="del">
          <ac:chgData name="Federico   Leal Quintero" userId="33fa458c-48bb-483d-b6c4-5e33e789b225" providerId="ADAL" clId="{12537E50-C9EA-4147-B56A-811967D6F021}" dt="2026-01-29T02:14:17.200" v="14" actId="478"/>
          <ac:picMkLst>
            <pc:docMk/>
            <pc:sldMk cId="0" sldId="256"/>
            <ac:picMk id="195" creationId="{00000000-0000-0000-0000-000000000000}"/>
          </ac:picMkLst>
        </pc:picChg>
      </pc:sldChg>
      <pc:sldChg chg="delSp modSp mod">
        <pc:chgData name="Federico   Leal Quintero" userId="33fa458c-48bb-483d-b6c4-5e33e789b225" providerId="ADAL" clId="{12537E50-C9EA-4147-B56A-811967D6F021}" dt="2026-01-29T02:14:30.053" v="35" actId="478"/>
        <pc:sldMkLst>
          <pc:docMk/>
          <pc:sldMk cId="0" sldId="257"/>
        </pc:sldMkLst>
        <pc:spChg chg="mod">
          <ac:chgData name="Federico   Leal Quintero" userId="33fa458c-48bb-483d-b6c4-5e33e789b225" providerId="ADAL" clId="{12537E50-C9EA-4147-B56A-811967D6F021}" dt="2026-01-29T02:14:00.581" v="9" actId="20577"/>
          <ac:spMkLst>
            <pc:docMk/>
            <pc:sldMk cId="0" sldId="257"/>
            <ac:spMk id="205" creationId="{00000000-0000-0000-0000-000000000000}"/>
          </ac:spMkLst>
        </pc:spChg>
        <pc:spChg chg="mod">
          <ac:chgData name="Federico   Leal Quintero" userId="33fa458c-48bb-483d-b6c4-5e33e789b225" providerId="ADAL" clId="{12537E50-C9EA-4147-B56A-811967D6F021}" dt="2026-01-29T02:14:03.280" v="10" actId="20577"/>
          <ac:spMkLst>
            <pc:docMk/>
            <pc:sldMk cId="0" sldId="257"/>
            <ac:spMk id="208" creationId="{00000000-0000-0000-0000-000000000000}"/>
          </ac:spMkLst>
        </pc:spChg>
        <pc:spChg chg="mod">
          <ac:chgData name="Federico   Leal Quintero" userId="33fa458c-48bb-483d-b6c4-5e33e789b225" providerId="ADAL" clId="{12537E50-C9EA-4147-B56A-811967D6F021}" dt="2026-01-29T02:14:10.982" v="12" actId="20577"/>
          <ac:spMkLst>
            <pc:docMk/>
            <pc:sldMk cId="0" sldId="257"/>
            <ac:spMk id="209" creationId="{00000000-0000-0000-0000-000000000000}"/>
          </ac:spMkLst>
        </pc:spChg>
        <pc:spChg chg="mod">
          <ac:chgData name="Federico   Leal Quintero" userId="33fa458c-48bb-483d-b6c4-5e33e789b225" providerId="ADAL" clId="{12537E50-C9EA-4147-B56A-811967D6F021}" dt="2026-01-29T02:14:07.763" v="11" actId="20577"/>
          <ac:spMkLst>
            <pc:docMk/>
            <pc:sldMk cId="0" sldId="257"/>
            <ac:spMk id="215" creationId="{00000000-0000-0000-0000-000000000000}"/>
          </ac:spMkLst>
        </pc:spChg>
        <pc:picChg chg="del">
          <ac:chgData name="Federico   Leal Quintero" userId="33fa458c-48bb-483d-b6c4-5e33e789b225" providerId="ADAL" clId="{12537E50-C9EA-4147-B56A-811967D6F021}" dt="2026-01-29T02:13:38.783" v="0" actId="478"/>
          <ac:picMkLst>
            <pc:docMk/>
            <pc:sldMk cId="0" sldId="257"/>
            <ac:picMk id="210" creationId="{00000000-0000-0000-0000-000000000000}"/>
          </ac:picMkLst>
        </pc:picChg>
        <pc:picChg chg="del">
          <ac:chgData name="Federico   Leal Quintero" userId="33fa458c-48bb-483d-b6c4-5e33e789b225" providerId="ADAL" clId="{12537E50-C9EA-4147-B56A-811967D6F021}" dt="2026-01-29T02:13:43.205" v="2" actId="478"/>
          <ac:picMkLst>
            <pc:docMk/>
            <pc:sldMk cId="0" sldId="257"/>
            <ac:picMk id="211" creationId="{00000000-0000-0000-0000-000000000000}"/>
          </ac:picMkLst>
        </pc:picChg>
        <pc:picChg chg="del">
          <ac:chgData name="Federico   Leal Quintero" userId="33fa458c-48bb-483d-b6c4-5e33e789b225" providerId="ADAL" clId="{12537E50-C9EA-4147-B56A-811967D6F021}" dt="2026-01-29T02:13:40.209" v="1" actId="478"/>
          <ac:picMkLst>
            <pc:docMk/>
            <pc:sldMk cId="0" sldId="257"/>
            <ac:picMk id="212" creationId="{00000000-0000-0000-0000-000000000000}"/>
          </ac:picMkLst>
        </pc:picChg>
        <pc:picChg chg="del">
          <ac:chgData name="Federico   Leal Quintero" userId="33fa458c-48bb-483d-b6c4-5e33e789b225" providerId="ADAL" clId="{12537E50-C9EA-4147-B56A-811967D6F021}" dt="2026-01-29T02:13:44.139" v="3" actId="478"/>
          <ac:picMkLst>
            <pc:docMk/>
            <pc:sldMk cId="0" sldId="257"/>
            <ac:picMk id="213" creationId="{00000000-0000-0000-0000-000000000000}"/>
          </ac:picMkLst>
        </pc:picChg>
        <pc:picChg chg="del">
          <ac:chgData name="Federico   Leal Quintero" userId="33fa458c-48bb-483d-b6c4-5e33e789b225" providerId="ADAL" clId="{12537E50-C9EA-4147-B56A-811967D6F021}" dt="2026-01-29T02:13:45.390" v="4" actId="478"/>
          <ac:picMkLst>
            <pc:docMk/>
            <pc:sldMk cId="0" sldId="257"/>
            <ac:picMk id="214" creationId="{00000000-0000-0000-0000-000000000000}"/>
          </ac:picMkLst>
        </pc:picChg>
        <pc:picChg chg="del">
          <ac:chgData name="Federico   Leal Quintero" userId="33fa458c-48bb-483d-b6c4-5e33e789b225" providerId="ADAL" clId="{12537E50-C9EA-4147-B56A-811967D6F021}" dt="2026-01-29T02:14:30.053" v="35" actId="478"/>
          <ac:picMkLst>
            <pc:docMk/>
            <pc:sldMk cId="0" sldId="257"/>
            <ac:picMk id="216" creationId="{00000000-0000-0000-0000-000000000000}"/>
          </ac:picMkLst>
        </pc:picChg>
      </pc:sldChg>
      <pc:sldChg chg="delSp modSp mod">
        <pc:chgData name="Federico   Leal Quintero" userId="33fa458c-48bb-483d-b6c4-5e33e789b225" providerId="ADAL" clId="{12537E50-C9EA-4147-B56A-811967D6F021}" dt="2026-01-29T02:15:19.872" v="65" actId="20577"/>
        <pc:sldMkLst>
          <pc:docMk/>
          <pc:sldMk cId="0" sldId="258"/>
        </pc:sldMkLst>
        <pc:spChg chg="mod">
          <ac:chgData name="Federico   Leal Quintero" userId="33fa458c-48bb-483d-b6c4-5e33e789b225" providerId="ADAL" clId="{12537E50-C9EA-4147-B56A-811967D6F021}" dt="2026-01-29T02:15:19.872" v="65" actId="20577"/>
          <ac:spMkLst>
            <pc:docMk/>
            <pc:sldMk cId="0" sldId="258"/>
            <ac:spMk id="229" creationId="{00000000-0000-0000-0000-000000000000}"/>
          </ac:spMkLst>
        </pc:spChg>
        <pc:picChg chg="del">
          <ac:chgData name="Federico   Leal Quintero" userId="33fa458c-48bb-483d-b6c4-5e33e789b225" providerId="ADAL" clId="{12537E50-C9EA-4147-B56A-811967D6F021}" dt="2026-01-29T02:14:33.631" v="36" actId="478"/>
          <ac:picMkLst>
            <pc:docMk/>
            <pc:sldMk cId="0" sldId="258"/>
            <ac:picMk id="223" creationId="{00000000-0000-0000-0000-000000000000}"/>
          </ac:picMkLst>
        </pc:picChg>
      </pc:sldChg>
      <pc:sldChg chg="addSp modSp del">
        <pc:chgData name="Federico   Leal Quintero" userId="33fa458c-48bb-483d-b6c4-5e33e789b225" providerId="ADAL" clId="{12537E50-C9EA-4147-B56A-811967D6F021}" dt="2026-01-29T02:15:43.575" v="69" actId="47"/>
        <pc:sldMkLst>
          <pc:docMk/>
          <pc:sldMk cId="0" sldId="259"/>
        </pc:sldMkLst>
        <pc:spChg chg="add mod">
          <ac:chgData name="Federico   Leal Quintero" userId="33fa458c-48bb-483d-b6c4-5e33e789b225" providerId="ADAL" clId="{12537E50-C9EA-4147-B56A-811967D6F021}" dt="2026-01-29T02:15:29.846" v="66"/>
          <ac:spMkLst>
            <pc:docMk/>
            <pc:sldMk cId="0" sldId="259"/>
            <ac:spMk id="2" creationId="{3507EB37-B4DA-B894-4945-BA1293DF4264}"/>
          </ac:spMkLst>
        </pc:spChg>
      </pc:sldChg>
      <pc:sldChg chg="modSp mod">
        <pc:chgData name="Federico   Leal Quintero" userId="33fa458c-48bb-483d-b6c4-5e33e789b225" providerId="ADAL" clId="{12537E50-C9EA-4147-B56A-811967D6F021}" dt="2026-01-29T02:15:52.174" v="70" actId="207"/>
        <pc:sldMkLst>
          <pc:docMk/>
          <pc:sldMk cId="0" sldId="260"/>
        </pc:sldMkLst>
        <pc:spChg chg="mod">
          <ac:chgData name="Federico   Leal Quintero" userId="33fa458c-48bb-483d-b6c4-5e33e789b225" providerId="ADAL" clId="{12537E50-C9EA-4147-B56A-811967D6F021}" dt="2026-01-29T02:15:52.174" v="70" actId="207"/>
          <ac:spMkLst>
            <pc:docMk/>
            <pc:sldMk cId="0" sldId="260"/>
            <ac:spMk id="253" creationId="{00000000-0000-0000-0000-000000000000}"/>
          </ac:spMkLst>
        </pc:spChg>
      </pc:sldChg>
      <pc:sldChg chg="modSp mod">
        <pc:chgData name="Federico   Leal Quintero" userId="33fa458c-48bb-483d-b6c4-5e33e789b225" providerId="ADAL" clId="{12537E50-C9EA-4147-B56A-811967D6F021}" dt="2026-01-29T02:16:13.958" v="76" actId="20577"/>
        <pc:sldMkLst>
          <pc:docMk/>
          <pc:sldMk cId="0" sldId="261"/>
        </pc:sldMkLst>
        <pc:spChg chg="mod">
          <ac:chgData name="Federico   Leal Quintero" userId="33fa458c-48bb-483d-b6c4-5e33e789b225" providerId="ADAL" clId="{12537E50-C9EA-4147-B56A-811967D6F021}" dt="2026-01-29T02:16:13.958" v="76" actId="20577"/>
          <ac:spMkLst>
            <pc:docMk/>
            <pc:sldMk cId="0" sldId="261"/>
            <ac:spMk id="260" creationId="{00000000-0000-0000-0000-000000000000}"/>
          </ac:spMkLst>
        </pc:spChg>
      </pc:sldChg>
      <pc:sldChg chg="modSp mod">
        <pc:chgData name="Federico   Leal Quintero" userId="33fa458c-48bb-483d-b6c4-5e33e789b225" providerId="ADAL" clId="{12537E50-C9EA-4147-B56A-811967D6F021}" dt="2026-01-29T02:16:37.462" v="78" actId="732"/>
        <pc:sldMkLst>
          <pc:docMk/>
          <pc:sldMk cId="0" sldId="262"/>
        </pc:sldMkLst>
        <pc:picChg chg="mod modCrop">
          <ac:chgData name="Federico   Leal Quintero" userId="33fa458c-48bb-483d-b6c4-5e33e789b225" providerId="ADAL" clId="{12537E50-C9EA-4147-B56A-811967D6F021}" dt="2026-01-29T02:16:26.624" v="77" actId="732"/>
          <ac:picMkLst>
            <pc:docMk/>
            <pc:sldMk cId="0" sldId="262"/>
            <ac:picMk id="281" creationId="{00000000-0000-0000-0000-000000000000}"/>
          </ac:picMkLst>
        </pc:picChg>
        <pc:picChg chg="mod modCrop">
          <ac:chgData name="Federico   Leal Quintero" userId="33fa458c-48bb-483d-b6c4-5e33e789b225" providerId="ADAL" clId="{12537E50-C9EA-4147-B56A-811967D6F021}" dt="2026-01-29T02:16:37.462" v="78" actId="732"/>
          <ac:picMkLst>
            <pc:docMk/>
            <pc:sldMk cId="0" sldId="262"/>
            <ac:picMk id="283" creationId="{00000000-0000-0000-0000-000000000000}"/>
          </ac:picMkLst>
        </pc:picChg>
      </pc:sldChg>
      <pc:sldChg chg="modSp mod">
        <pc:chgData name="Federico   Leal Quintero" userId="33fa458c-48bb-483d-b6c4-5e33e789b225" providerId="ADAL" clId="{12537E50-C9EA-4147-B56A-811967D6F021}" dt="2026-01-29T02:17:36.707" v="108" actId="20577"/>
        <pc:sldMkLst>
          <pc:docMk/>
          <pc:sldMk cId="0" sldId="263"/>
        </pc:sldMkLst>
        <pc:spChg chg="mod">
          <ac:chgData name="Federico   Leal Quintero" userId="33fa458c-48bb-483d-b6c4-5e33e789b225" providerId="ADAL" clId="{12537E50-C9EA-4147-B56A-811967D6F021}" dt="2026-01-29T02:17:36.707" v="108" actId="20577"/>
          <ac:spMkLst>
            <pc:docMk/>
            <pc:sldMk cId="0" sldId="263"/>
            <ac:spMk id="301" creationId="{00000000-0000-0000-0000-000000000000}"/>
          </ac:spMkLst>
        </pc:spChg>
      </pc:sldChg>
      <pc:sldChg chg="modSp mod">
        <pc:chgData name="Federico   Leal Quintero" userId="33fa458c-48bb-483d-b6c4-5e33e789b225" providerId="ADAL" clId="{12537E50-C9EA-4147-B56A-811967D6F021}" dt="2026-01-29T02:17:46.437" v="114" actId="20577"/>
        <pc:sldMkLst>
          <pc:docMk/>
          <pc:sldMk cId="0" sldId="264"/>
        </pc:sldMkLst>
        <pc:spChg chg="mod">
          <ac:chgData name="Federico   Leal Quintero" userId="33fa458c-48bb-483d-b6c4-5e33e789b225" providerId="ADAL" clId="{12537E50-C9EA-4147-B56A-811967D6F021}" dt="2026-01-29T02:17:46.437" v="114" actId="20577"/>
          <ac:spMkLst>
            <pc:docMk/>
            <pc:sldMk cId="0" sldId="264"/>
            <ac:spMk id="332" creationId="{00000000-0000-0000-0000-000000000000}"/>
          </ac:spMkLst>
        </pc:spChg>
      </pc:sldChg>
      <pc:sldChg chg="modSp mod">
        <pc:chgData name="Federico   Leal Quintero" userId="33fa458c-48bb-483d-b6c4-5e33e789b225" providerId="ADAL" clId="{12537E50-C9EA-4147-B56A-811967D6F021}" dt="2026-01-29T02:17:50.469" v="120" actId="20577"/>
        <pc:sldMkLst>
          <pc:docMk/>
          <pc:sldMk cId="0" sldId="265"/>
        </pc:sldMkLst>
        <pc:spChg chg="mod">
          <ac:chgData name="Federico   Leal Quintero" userId="33fa458c-48bb-483d-b6c4-5e33e789b225" providerId="ADAL" clId="{12537E50-C9EA-4147-B56A-811967D6F021}" dt="2026-01-29T02:17:50.469" v="120" actId="20577"/>
          <ac:spMkLst>
            <pc:docMk/>
            <pc:sldMk cId="0" sldId="265"/>
            <ac:spMk id="400" creationId="{00000000-0000-0000-0000-000000000000}"/>
          </ac:spMkLst>
        </pc:spChg>
      </pc:sldChg>
      <pc:sldChg chg="modSp mod">
        <pc:chgData name="Federico   Leal Quintero" userId="33fa458c-48bb-483d-b6c4-5e33e789b225" providerId="ADAL" clId="{12537E50-C9EA-4147-B56A-811967D6F021}" dt="2026-01-29T02:17:55.610" v="124" actId="20577"/>
        <pc:sldMkLst>
          <pc:docMk/>
          <pc:sldMk cId="0" sldId="266"/>
        </pc:sldMkLst>
        <pc:spChg chg="mod">
          <ac:chgData name="Federico   Leal Quintero" userId="33fa458c-48bb-483d-b6c4-5e33e789b225" providerId="ADAL" clId="{12537E50-C9EA-4147-B56A-811967D6F021}" dt="2026-01-29T02:17:55.610" v="124" actId="20577"/>
          <ac:spMkLst>
            <pc:docMk/>
            <pc:sldMk cId="0" sldId="266"/>
            <ac:spMk id="469" creationId="{00000000-0000-0000-0000-000000000000}"/>
          </ac:spMkLst>
        </pc:spChg>
      </pc:sldChg>
      <pc:sldChg chg="modSp mod">
        <pc:chgData name="Federico   Leal Quintero" userId="33fa458c-48bb-483d-b6c4-5e33e789b225" providerId="ADAL" clId="{12537E50-C9EA-4147-B56A-811967D6F021}" dt="2026-01-29T02:18:01.639" v="126" actId="20577"/>
        <pc:sldMkLst>
          <pc:docMk/>
          <pc:sldMk cId="0" sldId="267"/>
        </pc:sldMkLst>
        <pc:spChg chg="mod">
          <ac:chgData name="Federico   Leal Quintero" userId="33fa458c-48bb-483d-b6c4-5e33e789b225" providerId="ADAL" clId="{12537E50-C9EA-4147-B56A-811967D6F021}" dt="2026-01-29T02:18:01.639" v="126" actId="20577"/>
          <ac:spMkLst>
            <pc:docMk/>
            <pc:sldMk cId="0" sldId="267"/>
            <ac:spMk id="527" creationId="{00000000-0000-0000-0000-000000000000}"/>
          </ac:spMkLst>
        </pc:spChg>
      </pc:sldChg>
      <pc:sldChg chg="modSp mod">
        <pc:chgData name="Federico   Leal Quintero" userId="33fa458c-48bb-483d-b6c4-5e33e789b225" providerId="ADAL" clId="{12537E50-C9EA-4147-B56A-811967D6F021}" dt="2026-01-29T02:18:41.968" v="132" actId="1037"/>
        <pc:sldMkLst>
          <pc:docMk/>
          <pc:sldMk cId="0" sldId="269"/>
        </pc:sldMkLst>
        <pc:spChg chg="mod">
          <ac:chgData name="Federico   Leal Quintero" userId="33fa458c-48bb-483d-b6c4-5e33e789b225" providerId="ADAL" clId="{12537E50-C9EA-4147-B56A-811967D6F021}" dt="2026-01-29T02:18:41.968" v="132" actId="1037"/>
          <ac:spMkLst>
            <pc:docMk/>
            <pc:sldMk cId="0" sldId="269"/>
            <ac:spMk id="604" creationId="{00000000-0000-0000-0000-000000000000}"/>
          </ac:spMkLst>
        </pc:spChg>
      </pc:sldChg>
      <pc:sldChg chg="addSp modSp add">
        <pc:chgData name="Federico   Leal Quintero" userId="33fa458c-48bb-483d-b6c4-5e33e789b225" providerId="ADAL" clId="{12537E50-C9EA-4147-B56A-811967D6F021}" dt="2026-01-29T02:15:40.548" v="68"/>
        <pc:sldMkLst>
          <pc:docMk/>
          <pc:sldMk cId="3988943410" sldId="270"/>
        </pc:sldMkLst>
        <pc:spChg chg="add mod">
          <ac:chgData name="Federico   Leal Quintero" userId="33fa458c-48bb-483d-b6c4-5e33e789b225" providerId="ADAL" clId="{12537E50-C9EA-4147-B56A-811967D6F021}" dt="2026-01-29T02:15:40.548" v="68"/>
          <ac:spMkLst>
            <pc:docMk/>
            <pc:sldMk cId="3988943410" sldId="270"/>
            <ac:spMk id="2" creationId="{ECCC790F-36FD-3B87-B23E-1F177C3BB4C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Fede: Saludo, 30 segundos</a:t>
            </a:r>
            <a:endParaRPr/>
          </a:p>
        </p:txBody>
      </p:sp>
      <p:sp>
        <p:nvSpPr>
          <p:cNvPr id="189" name="Google Shape;18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Fede: Introducción al team. 30 segundos</a:t>
            </a:r>
            <a:endParaRPr/>
          </a:p>
        </p:txBody>
      </p:sp>
      <p:sp>
        <p:nvSpPr>
          <p:cNvPr id="201" name="Google Shape;20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Fede: Nutrex what they do. 1 minuto y medio</a:t>
            </a:r>
            <a:endParaRPr/>
          </a:p>
        </p:txBody>
      </p:sp>
      <p:sp>
        <p:nvSpPr>
          <p:cNvPr id="220" name="Google Shape;22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2024843A-8BF8-8135-A2D5-B446CC01F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:notes">
            <a:extLst>
              <a:ext uri="{FF2B5EF4-FFF2-40B4-BE49-F238E27FC236}">
                <a16:creationId xmlns:a16="http://schemas.microsoft.com/office/drawing/2014/main" id="{AFF04253-2E3D-64E3-7148-2E60E86B0D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3:notes">
            <a:extLst>
              <a:ext uri="{FF2B5EF4-FFF2-40B4-BE49-F238E27FC236}">
                <a16:creationId xmlns:a16="http://schemas.microsoft.com/office/drawing/2014/main" id="{41FD3497-1850-98E2-9272-28D2845178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Fede: Nutrex what they do. 1 minuto y medio</a:t>
            </a:r>
            <a:endParaRPr/>
          </a:p>
        </p:txBody>
      </p:sp>
      <p:sp>
        <p:nvSpPr>
          <p:cNvPr id="220" name="Google Shape;220;p3:notes">
            <a:extLst>
              <a:ext uri="{FF2B5EF4-FFF2-40B4-BE49-F238E27FC236}">
                <a16:creationId xmlns:a16="http://schemas.microsoft.com/office/drawing/2014/main" id="{0E3C59DB-1104-E4F6-6351-1194ED0FCD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9395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Fede. Desorden. Y Pain Points. 1 minuto</a:t>
            </a:r>
            <a:endParaRPr/>
          </a:p>
        </p:txBody>
      </p:sp>
      <p:sp>
        <p:nvSpPr>
          <p:cNvPr id="247" name="Google Shape;24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Fede. Desorden y pain points. 1 minuto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66" name="Google Shape;266;p7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Dani. Discovery outputs 1 minuto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92" name="Google Shape;2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93" name="Google Shape;293;p8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Dani. Requirements priority. 1 minute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22" name="Google Shape;322;p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Dani. 30 segundos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395" name="Google Shape;39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96" name="Google Shape;396;p10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Dani. Requirements list 1 minute total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464" name="Google Shape;46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65" name="Google Shape;465;p11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Dani. Requirements list 1 minute total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522" name="Google Shape;52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23" name="Google Shape;523;p12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Fede. Solution architecture diagram . 2 minutes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569" name="Google Shape;56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70" name="Google Shape;570;p13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Fede. Solution architecture diagram . 2 minutes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9" name="Google Shape;59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Dani Methodology 1 minute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 pronto meter lo de los agile cycles en la diapositiva de alternativas?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Features -&gt; </a:t>
            </a:r>
            <a:endParaRPr/>
          </a:p>
        </p:txBody>
      </p:sp>
      <p:sp>
        <p:nvSpPr>
          <p:cNvPr id="600" name="Google Shape;60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Slide">
  <p:cSld name="Default Slid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Slide">
  <p:cSld name="Default Slid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2"/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2"/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2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/>
            </a:lvl1pPr>
            <a:lvl2pPr marL="0" marR="0" lvl="1" indent="0" algn="r">
              <a:spcBef>
                <a:spcPts val="0"/>
              </a:spcBef>
              <a:buNone/>
              <a:defRPr/>
            </a:lvl2pPr>
            <a:lvl3pPr marL="0" marR="0" lvl="2" indent="0" algn="r">
              <a:spcBef>
                <a:spcPts val="0"/>
              </a:spcBef>
              <a:buNone/>
              <a:defRPr/>
            </a:lvl3pPr>
            <a:lvl4pPr marL="0" marR="0" lvl="3" indent="0" algn="r">
              <a:spcBef>
                <a:spcPts val="0"/>
              </a:spcBef>
              <a:buNone/>
              <a:defRPr/>
            </a:lvl4pPr>
            <a:lvl5pPr marL="0" marR="0" lvl="4" indent="0" algn="r">
              <a:spcBef>
                <a:spcPts val="0"/>
              </a:spcBef>
              <a:buNone/>
              <a:defRPr/>
            </a:lvl5pPr>
            <a:lvl6pPr marL="0" marR="0" lvl="5" indent="0" algn="r">
              <a:spcBef>
                <a:spcPts val="0"/>
              </a:spcBef>
              <a:buNone/>
              <a:defRPr/>
            </a:lvl6pPr>
            <a:lvl7pPr marL="0" marR="0" lvl="6" indent="0" algn="r">
              <a:spcBef>
                <a:spcPts val="0"/>
              </a:spcBef>
              <a:buNone/>
              <a:defRPr/>
            </a:lvl7pPr>
            <a:lvl8pPr marL="0" marR="0" lvl="7" indent="0" algn="r">
              <a:spcBef>
                <a:spcPts val="0"/>
              </a:spcBef>
              <a:buNone/>
              <a:defRPr/>
            </a:lvl8pPr>
            <a:lvl9pPr marL="0" marR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3"/>
          <p:cNvSpPr txBox="1">
            <a:spLocks noGrp="1"/>
          </p:cNvSpPr>
          <p:nvPr>
            <p:ph type="sldNum" idx="12"/>
          </p:nvPr>
        </p:nvSpPr>
        <p:spPr>
          <a:xfrm>
            <a:off x="9448800" y="6483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4"/>
          <p:cNvSpPr txBox="1">
            <a:spLocks noGrp="1"/>
          </p:cNvSpPr>
          <p:nvPr>
            <p:ph type="sldNum" idx="12"/>
          </p:nvPr>
        </p:nvSpPr>
        <p:spPr>
          <a:xfrm>
            <a:off x="9448800" y="6483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Slide">
  <p:cSld name="Default Slide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5"/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35"/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35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5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5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6"/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36"/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36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6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6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7"/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7"/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98989"/>
              </a:buClr>
              <a:buSzPts val="2400"/>
              <a:buNone/>
              <a:defRPr sz="2400">
                <a:solidFill>
                  <a:srgbClr val="898989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37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37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7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8"/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8"/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5181603" cy="4351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38"/>
          <p:cNvSpPr txBox="1">
            <a:spLocks noGrp="1"/>
          </p:cNvSpPr>
          <p:nvPr>
            <p:ph type="body" idx="2"/>
          </p:nvPr>
        </p:nvSpPr>
        <p:spPr>
          <a:xfrm>
            <a:off x="6172200" y="1825627"/>
            <a:ext cx="5181603" cy="4351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38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8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8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9"/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39"/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39"/>
          <p:cNvSpPr txBox="1">
            <a:spLocks noGrp="1"/>
          </p:cNvSpPr>
          <p:nvPr>
            <p:ph type="body" idx="2"/>
          </p:nvPr>
        </p:nvSpPr>
        <p:spPr>
          <a:xfrm>
            <a:off x="839784" y="2505071"/>
            <a:ext cx="5157782" cy="3684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39"/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39"/>
          <p:cNvSpPr txBox="1">
            <a:spLocks noGrp="1"/>
          </p:cNvSpPr>
          <p:nvPr>
            <p:ph type="body" idx="4"/>
          </p:nvPr>
        </p:nvSpPr>
        <p:spPr>
          <a:xfrm>
            <a:off x="6172200" y="2505071"/>
            <a:ext cx="5183184" cy="3684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39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9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9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0"/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40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40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40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1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41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41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2"/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42"/>
          <p:cNvSpPr txBox="1">
            <a:spLocks noGrp="1"/>
          </p:cNvSpPr>
          <p:nvPr>
            <p:ph type="body" idx="1"/>
          </p:nvPr>
        </p:nvSpPr>
        <p:spPr>
          <a:xfrm>
            <a:off x="5183184" y="987423"/>
            <a:ext cx="6172200" cy="4873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42"/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42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42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42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3"/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43"/>
          <p:cNvSpPr>
            <a:spLocks noGrp="1"/>
          </p:cNvSpPr>
          <p:nvPr>
            <p:ph type="pic" idx="2"/>
          </p:nvPr>
        </p:nvSpPr>
        <p:spPr>
          <a:xfrm>
            <a:off x="5183184" y="987423"/>
            <a:ext cx="6172200" cy="4873623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43"/>
          <p:cNvSpPr txBox="1">
            <a:spLocks noGrp="1"/>
          </p:cNvSpPr>
          <p:nvPr>
            <p:ph type="body" idx="1"/>
          </p:nvPr>
        </p:nvSpPr>
        <p:spPr>
          <a:xfrm>
            <a:off x="839784" y="2057400"/>
            <a:ext cx="3932240" cy="3811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43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43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43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4"/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44"/>
          <p:cNvSpPr txBox="1">
            <a:spLocks noGrp="1"/>
          </p:cNvSpPr>
          <p:nvPr>
            <p:ph type="body" idx="1"/>
          </p:nvPr>
        </p:nvSpPr>
        <p:spPr>
          <a:xfrm rot="5400000">
            <a:off x="3920335" y="-1256505"/>
            <a:ext cx="4351336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44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44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44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5"/>
          <p:cNvSpPr txBox="1">
            <a:spLocks noGrp="1"/>
          </p:cNvSpPr>
          <p:nvPr>
            <p:ph type="title"/>
          </p:nvPr>
        </p:nvSpPr>
        <p:spPr>
          <a:xfrm rot="5400000">
            <a:off x="7133436" y="1956596"/>
            <a:ext cx="5811834" cy="2628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5"/>
          <p:cNvSpPr txBox="1">
            <a:spLocks noGrp="1"/>
          </p:cNvSpPr>
          <p:nvPr>
            <p:ph type="body" idx="1"/>
          </p:nvPr>
        </p:nvSpPr>
        <p:spPr>
          <a:xfrm rot="5400000">
            <a:off x="1799434" y="-596102"/>
            <a:ext cx="5811834" cy="7734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45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45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45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sldNum" idx="12"/>
          </p:nvPr>
        </p:nvSpPr>
        <p:spPr>
          <a:xfrm>
            <a:off x="9448800" y="6483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dt" idx="10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ftr" idx="11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sldNum" idx="12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4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11" Type="http://schemas.openxmlformats.org/officeDocument/2006/relationships/image" Target="../media/image2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25.png"/><Relationship Id="rId5" Type="http://schemas.openxmlformats.org/officeDocument/2006/relationships/image" Target="../media/image28.png"/><Relationship Id="rId10" Type="http://schemas.openxmlformats.org/officeDocument/2006/relationships/image" Target="../media/image35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"/>
          <p:cNvSpPr txBox="1"/>
          <p:nvPr/>
        </p:nvSpPr>
        <p:spPr>
          <a:xfrm>
            <a:off x="994336" y="2134264"/>
            <a:ext cx="8180144" cy="1452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B6E8F"/>
              </a:buClr>
              <a:buSzPts val="4800"/>
              <a:buFont typeface="Calibri"/>
              <a:buNone/>
            </a:pPr>
            <a:r>
              <a:rPr lang="en-US" sz="4800" b="1" i="0" u="none" strike="noStrike" cap="none" dirty="0">
                <a:solidFill>
                  <a:srgbClr val="3B6E8F"/>
                </a:solidFill>
                <a:latin typeface="Calibri"/>
                <a:ea typeface="Calibri"/>
                <a:cs typeface="Calibri"/>
                <a:sym typeface="Calibri"/>
              </a:rPr>
              <a:t>Logistics Company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processes modernization</a:t>
            </a:r>
            <a:endParaRPr sz="2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"/>
          <p:cNvSpPr/>
          <p:nvPr/>
        </p:nvSpPr>
        <p:spPr>
          <a:xfrm rot="10800000" flipH="1">
            <a:off x="0" y="6365632"/>
            <a:ext cx="12191996" cy="492367"/>
          </a:xfrm>
          <a:prstGeom prst="rect">
            <a:avLst/>
          </a:prstGeom>
          <a:solidFill>
            <a:srgbClr val="3B6E8F"/>
          </a:solidFill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"/>
          <p:cNvSpPr/>
          <p:nvPr/>
        </p:nvSpPr>
        <p:spPr>
          <a:xfrm rot="10800000" flipH="1">
            <a:off x="3538" y="548"/>
            <a:ext cx="12191996" cy="353863"/>
          </a:xfrm>
          <a:prstGeom prst="rect">
            <a:avLst/>
          </a:prstGeom>
          <a:solidFill>
            <a:srgbClr val="3B6E8F"/>
          </a:solidFill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p1"/>
          <p:cNvCxnSpPr/>
          <p:nvPr/>
        </p:nvCxnSpPr>
        <p:spPr>
          <a:xfrm>
            <a:off x="3352800" y="5478559"/>
            <a:ext cx="0" cy="597035"/>
          </a:xfrm>
          <a:prstGeom prst="straightConnector1">
            <a:avLst/>
          </a:prstGeom>
          <a:noFill/>
          <a:ln w="9525" cap="flat" cmpd="sng">
            <a:solidFill>
              <a:srgbClr val="BEC7C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"/>
          <p:cNvSpPr/>
          <p:nvPr/>
        </p:nvSpPr>
        <p:spPr>
          <a:xfrm>
            <a:off x="165103" y="1412102"/>
            <a:ext cx="11586078" cy="5106652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rgbClr val="2D84A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"/>
          <p:cNvSpPr txBox="1">
            <a:spLocks noGrp="1"/>
          </p:cNvSpPr>
          <p:nvPr>
            <p:ph type="title"/>
          </p:nvPr>
        </p:nvSpPr>
        <p:spPr>
          <a:xfrm>
            <a:off x="284443" y="676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B6E8F"/>
              </a:buClr>
              <a:buSzPts val="2400"/>
              <a:buFont typeface="Quattrocento Sans"/>
              <a:buNone/>
            </a:pPr>
            <a:r>
              <a:rPr lang="en-US" sz="2400" b="1">
                <a:solidFill>
                  <a:srgbClr val="3B6E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Team</a:t>
            </a:r>
            <a:endParaRPr/>
          </a:p>
        </p:txBody>
      </p:sp>
      <p:sp>
        <p:nvSpPr>
          <p:cNvPr id="205" name="Google Shape;205;p2"/>
          <p:cNvSpPr/>
          <p:nvPr/>
        </p:nvSpPr>
        <p:spPr>
          <a:xfrm>
            <a:off x="2832461" y="4261645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3B6E8F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Platform Lead</a:t>
            </a: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"/>
          <p:cNvSpPr/>
          <p:nvPr/>
        </p:nvSpPr>
        <p:spPr>
          <a:xfrm>
            <a:off x="853579" y="4818535"/>
            <a:ext cx="1671527" cy="1056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"/>
          <p:cNvSpPr/>
          <p:nvPr/>
        </p:nvSpPr>
        <p:spPr>
          <a:xfrm>
            <a:off x="4981123" y="4261645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3B6E8F"/>
                </a:solidFill>
                <a:latin typeface="Arial"/>
                <a:ea typeface="Arial"/>
                <a:cs typeface="Arial"/>
                <a:sym typeface="Arial"/>
              </a:rPr>
              <a:t>Federico Leal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Platform Consultant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"/>
          <p:cNvSpPr/>
          <p:nvPr/>
        </p:nvSpPr>
        <p:spPr>
          <a:xfrm>
            <a:off x="470785" y="4261645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3B6E8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PM</a:t>
            </a: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"/>
          <p:cNvSpPr/>
          <p:nvPr/>
        </p:nvSpPr>
        <p:spPr>
          <a:xfrm>
            <a:off x="9756186" y="4237747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1" i="0" u="none" strike="noStrike" cap="none" dirty="0">
                <a:solidFill>
                  <a:srgbClr val="3B6E8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Platform Consultant</a:t>
            </a: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"/>
          <p:cNvSpPr/>
          <p:nvPr/>
        </p:nvSpPr>
        <p:spPr>
          <a:xfrm>
            <a:off x="7375933" y="4261645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3B6E8F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Platform Consultant</a:t>
            </a: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3" descr="Corn kernel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8994" y="5005633"/>
            <a:ext cx="2473006" cy="185236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"/>
          <p:cNvSpPr txBox="1"/>
          <p:nvPr/>
        </p:nvSpPr>
        <p:spPr>
          <a:xfrm>
            <a:off x="160107" y="1200242"/>
            <a:ext cx="10515600" cy="5240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Multinational logistics company dedicated to trading agricultural commodities</a:t>
            </a:r>
            <a:endParaRPr dirty="0"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example: Rice, Soybean Oil, Wheat, Corn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endParaRPr sz="2000" b="0" i="0" u="none" strike="noStrike" cap="none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They do things better than their competitors because they:</a:t>
            </a:r>
            <a:endParaRPr dirty="0"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Manage risk by trading futures (hedging)</a:t>
            </a:r>
            <a:endParaRPr dirty="0"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intercompany transactions to optimize the amount of taxes they pay</a:t>
            </a:r>
            <a:endParaRPr dirty="0"/>
          </a:p>
          <a:p>
            <a:pPr marL="800100" marR="0" lvl="1" indent="-241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241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241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241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241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241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241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Know their clients and suppliers (“Know how”)</a:t>
            </a:r>
            <a:endParaRPr dirty="0"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3" descr="Arrocin 50kg Hace... - Forrajeria &quot;Doña Cata&quot; | Faceboo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25024" y="-36216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" descr="8 Amazing Benefits and Uses Of Soybean Oi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25024" y="1137153"/>
            <a:ext cx="2466975" cy="2769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" descr="Indian Fresh Wheat Crop at Rs 20000/metric ton in Guna | ID: 1469898619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21787" y="3553906"/>
            <a:ext cx="2480378" cy="1681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" descr="Home - GR8 Logistics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92406" y="4345980"/>
            <a:ext cx="2726588" cy="251202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"/>
          <p:cNvSpPr txBox="1"/>
          <p:nvPr/>
        </p:nvSpPr>
        <p:spPr>
          <a:xfrm>
            <a:off x="883098" y="3715038"/>
            <a:ext cx="6099142" cy="1261884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companies: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N Inc (Virgin Islands)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N do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Brasil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(Brazil)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N Paraguay SRL (Paraguay)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N Col (Colombia)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N America (USA)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>
          <a:extLst>
            <a:ext uri="{FF2B5EF4-FFF2-40B4-BE49-F238E27FC236}">
              <a16:creationId xmlns:a16="http://schemas.microsoft.com/office/drawing/2014/main" id="{C2996C68-21F3-5ECD-1256-BBD281694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3" descr="Corn kernel - Wikipedia">
            <a:extLst>
              <a:ext uri="{FF2B5EF4-FFF2-40B4-BE49-F238E27FC236}">
                <a16:creationId xmlns:a16="http://schemas.microsoft.com/office/drawing/2014/main" id="{906ECD3D-C770-6B0A-1067-98705E4CF2B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8994" y="5005633"/>
            <a:ext cx="2473006" cy="185236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">
            <a:extLst>
              <a:ext uri="{FF2B5EF4-FFF2-40B4-BE49-F238E27FC236}">
                <a16:creationId xmlns:a16="http://schemas.microsoft.com/office/drawing/2014/main" id="{DDD1805F-6C2C-423C-E7C5-16F4511EAF82}"/>
              </a:ext>
            </a:extLst>
          </p:cNvPr>
          <p:cNvSpPr txBox="1"/>
          <p:nvPr/>
        </p:nvSpPr>
        <p:spPr>
          <a:xfrm>
            <a:off x="160107" y="1200242"/>
            <a:ext cx="10515600" cy="5240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Multinational logistics company dedicated to trading agricultural commodities</a:t>
            </a:r>
            <a:endParaRPr dirty="0"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example: Rice, Soybean Oil, Wheat, Corn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endParaRPr sz="2000" b="0" i="0" u="none" strike="noStrike" cap="none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They do things better than their competitors because they:</a:t>
            </a:r>
            <a:endParaRPr dirty="0"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Manage risk by trading futures (hedging)</a:t>
            </a:r>
            <a:endParaRPr dirty="0"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intercompany transactions to optimize the amount of taxes they pay</a:t>
            </a:r>
            <a:endParaRPr dirty="0"/>
          </a:p>
          <a:p>
            <a:pPr marL="800100" marR="0" lvl="1" indent="-241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241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241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241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241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241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241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Know their clients and suppliers (“Know how”)</a:t>
            </a:r>
            <a:endParaRPr dirty="0"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3" descr="Arrocin 50kg Hace... - Forrajeria &quot;Doña Cata&quot; | Facebook">
            <a:extLst>
              <a:ext uri="{FF2B5EF4-FFF2-40B4-BE49-F238E27FC236}">
                <a16:creationId xmlns:a16="http://schemas.microsoft.com/office/drawing/2014/main" id="{9029BCA6-DCFC-6431-80E5-7BFF00C189B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25024" y="-36216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" descr="8 Amazing Benefits and Uses Of Soybean Oil">
            <a:extLst>
              <a:ext uri="{FF2B5EF4-FFF2-40B4-BE49-F238E27FC236}">
                <a16:creationId xmlns:a16="http://schemas.microsoft.com/office/drawing/2014/main" id="{EAF4354B-50D5-3C9B-BE36-714BD0AF825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25024" y="1137153"/>
            <a:ext cx="2466975" cy="2769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" descr="Indian Fresh Wheat Crop at Rs 20000/metric ton in Guna | ID: 14698986191">
            <a:extLst>
              <a:ext uri="{FF2B5EF4-FFF2-40B4-BE49-F238E27FC236}">
                <a16:creationId xmlns:a16="http://schemas.microsoft.com/office/drawing/2014/main" id="{1B3CEBE3-72C6-A3FA-5D81-B71F166CB8E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21787" y="3553906"/>
            <a:ext cx="2480378" cy="1681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" descr="Home - GR8 Logistics">
            <a:extLst>
              <a:ext uri="{FF2B5EF4-FFF2-40B4-BE49-F238E27FC236}">
                <a16:creationId xmlns:a16="http://schemas.microsoft.com/office/drawing/2014/main" id="{8226D2F7-8FFF-0C71-8C14-2F8C916C0B3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92406" y="4345980"/>
            <a:ext cx="2726588" cy="251202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">
            <a:extLst>
              <a:ext uri="{FF2B5EF4-FFF2-40B4-BE49-F238E27FC236}">
                <a16:creationId xmlns:a16="http://schemas.microsoft.com/office/drawing/2014/main" id="{122B5F7D-CD27-13B9-A57E-E26F7F3259EC}"/>
              </a:ext>
            </a:extLst>
          </p:cNvPr>
          <p:cNvSpPr txBox="1"/>
          <p:nvPr/>
        </p:nvSpPr>
        <p:spPr>
          <a:xfrm>
            <a:off x="883098" y="3715038"/>
            <a:ext cx="6099142" cy="1261884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companies: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N Inc (Virgin Islands)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N do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Brasil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(Brazil)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N Paraguay SRL (Paraguay)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N Col (Colombia)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N America (USA)</a:t>
            </a:r>
            <a:endParaRPr dirty="0"/>
          </a:p>
        </p:txBody>
      </p:sp>
      <p:sp>
        <p:nvSpPr>
          <p:cNvPr id="2" name="Google Shape;243;p4">
            <a:extLst>
              <a:ext uri="{FF2B5EF4-FFF2-40B4-BE49-F238E27FC236}">
                <a16:creationId xmlns:a16="http://schemas.microsoft.com/office/drawing/2014/main" id="{ECCC790F-36FD-3B87-B23E-1F177C3BB4CF}"/>
              </a:ext>
            </a:extLst>
          </p:cNvPr>
          <p:cNvSpPr txBox="1"/>
          <p:nvPr/>
        </p:nvSpPr>
        <p:spPr>
          <a:xfrm>
            <a:off x="5476113" y="6210195"/>
            <a:ext cx="141259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But…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8943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699602">
            <a:off x="579405" y="962069"/>
            <a:ext cx="7290587" cy="278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88120">
            <a:off x="-968380" y="4632452"/>
            <a:ext cx="9845893" cy="2072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466797">
            <a:off x="5183087" y="1062251"/>
            <a:ext cx="7559695" cy="4176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798471">
            <a:off x="371233" y="2864789"/>
            <a:ext cx="6906521" cy="2766236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5"/>
          <p:cNvSpPr txBox="1"/>
          <p:nvPr/>
        </p:nvSpPr>
        <p:spPr>
          <a:xfrm>
            <a:off x="9540792" y="242555"/>
            <a:ext cx="25273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It’s a mess…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B6E8F"/>
              </a:buClr>
              <a:buSzPts val="2400"/>
              <a:buFont typeface="Quattrocento Sans"/>
              <a:buNone/>
            </a:pPr>
            <a:r>
              <a:rPr lang="en-US" sz="2400" b="1">
                <a:solidFill>
                  <a:srgbClr val="3B6E8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Client pains</a:t>
            </a:r>
            <a:endParaRPr/>
          </a:p>
        </p:txBody>
      </p:sp>
      <p:sp>
        <p:nvSpPr>
          <p:cNvPr id="260" name="Google Shape;260;p6"/>
          <p:cNvSpPr txBox="1"/>
          <p:nvPr/>
        </p:nvSpPr>
        <p:spPr>
          <a:xfrm>
            <a:off x="822649" y="1564110"/>
            <a:ext cx="4537759" cy="4278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Manual processes. Prone to human error in data registration in multiple excels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accountability of who changed what, when (multiple people working in the same file at the same time)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effort to generate reports that are not reliable or in real time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accounting system (one per country). Hard to see the big picture.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Lack of process standardization across N Companies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Difficult traceability of the location of the product in real time: Forgotten container in Argentina</a:t>
            </a: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6" descr="Contenedor de carga marítima Conrad escala 1:50 20 ft - Foto 1 de 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0579" y="2370069"/>
            <a:ext cx="4392191" cy="2566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6" descr="Sad face outline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26674" y="3047215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oogle Shape;268;p7"/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69" name="Google Shape;269;p7"/>
            <p:cNvSpPr/>
            <p:nvPr/>
          </p:nvSpPr>
          <p:spPr>
            <a:xfrm>
              <a:off x="-1" y="0"/>
              <a:ext cx="66896" cy="6858000"/>
            </a:xfrm>
            <a:prstGeom prst="rect">
              <a:avLst/>
            </a:prstGeom>
            <a:solidFill>
              <a:srgbClr val="3B6E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7"/>
            <p:cNvSpPr txBox="1"/>
            <p:nvPr/>
          </p:nvSpPr>
          <p:spPr>
            <a:xfrm>
              <a:off x="66895" y="-1"/>
              <a:ext cx="12125105" cy="517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B6E8F"/>
                </a:buClr>
                <a:buSzPts val="2400"/>
                <a:buFont typeface="Quattrocento Sans"/>
                <a:buNone/>
              </a:pPr>
              <a:r>
                <a:rPr lang="en-US" sz="2400" b="1" i="0" u="none" strike="noStrike" cap="none">
                  <a:solidFill>
                    <a:srgbClr val="3B6E8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      Discovery sessions outputs</a:t>
              </a:r>
              <a:endParaRPr/>
            </a:p>
          </p:txBody>
        </p:sp>
        <p:cxnSp>
          <p:nvCxnSpPr>
            <p:cNvPr id="271" name="Google Shape;271;p7"/>
            <p:cNvCxnSpPr/>
            <p:nvPr/>
          </p:nvCxnSpPr>
          <p:spPr>
            <a:xfrm rot="10800000" flipH="1">
              <a:off x="65667" y="510139"/>
              <a:ext cx="12126333" cy="21566"/>
            </a:xfrm>
            <a:prstGeom prst="straightConnector1">
              <a:avLst/>
            </a:prstGeom>
            <a:noFill/>
            <a:ln w="9525" cap="flat" cmpd="sng">
              <a:solidFill>
                <a:srgbClr val="3B6E8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72" name="Google Shape;272;p7"/>
          <p:cNvSpPr txBox="1"/>
          <p:nvPr/>
        </p:nvSpPr>
        <p:spPr>
          <a:xfrm>
            <a:off x="9448800" y="6483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285899" y="606057"/>
            <a:ext cx="2906190" cy="6164902"/>
          </a:xfrm>
          <a:prstGeom prst="rect">
            <a:avLst/>
          </a:prstGeom>
          <a:noFill/>
          <a:ln w="3810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1" i="0" u="none" strike="noStrike" cap="none">
              <a:solidFill>
                <a:srgbClr val="4454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CAD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009CAD"/>
                </a:solidFill>
                <a:latin typeface="Calibri"/>
                <a:ea typeface="Calibri"/>
                <a:cs typeface="Calibri"/>
                <a:sym typeface="Calibri"/>
              </a:rPr>
              <a:t>Discovery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1" i="0" u="none" strike="noStrike" cap="none">
              <a:solidFill>
                <a:srgbClr val="4454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+15 </a:t>
            </a:r>
            <a:r>
              <a:rPr lang="en-US" sz="1400" b="1" i="0" u="none" strike="noStrike" cap="non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Sesiones de entendimiento de negocio y modelo operativo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1" i="0" u="none" strike="noStrike" cap="none">
              <a:solidFill>
                <a:srgbClr val="4454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Visión estratégica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Procesos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Sistemas de información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Roles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Documentos / Reportes 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Dolores / oportunidades 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Requerimientos de las áreas</a:t>
            </a:r>
            <a:endParaRPr/>
          </a:p>
        </p:txBody>
      </p:sp>
      <p:pic>
        <p:nvPicPr>
          <p:cNvPr id="274" name="Google Shape;274;p7" descr="Checklist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5856" y="4753827"/>
            <a:ext cx="284451" cy="266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7" descr="Workflow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82680" y="3724224"/>
            <a:ext cx="284451" cy="266612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7"/>
          <p:cNvSpPr/>
          <p:nvPr/>
        </p:nvSpPr>
        <p:spPr>
          <a:xfrm>
            <a:off x="780982" y="3724224"/>
            <a:ext cx="1790081" cy="784051"/>
          </a:xfrm>
          <a:prstGeom prst="rect">
            <a:avLst/>
          </a:prstGeom>
          <a:noFill/>
          <a:ln w="12700" cap="flat" cmpd="sng">
            <a:solidFill>
              <a:srgbClr val="437DB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Quattrocento Sans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Documentación de los procesos de Nutrex con propuestas de mejora</a:t>
            </a:r>
            <a:endParaRPr sz="1000" b="0" i="0" u="none" strike="noStrike" cap="non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769485" y="4753827"/>
            <a:ext cx="1790081" cy="784051"/>
          </a:xfrm>
          <a:prstGeom prst="rect">
            <a:avLst/>
          </a:prstGeom>
          <a:noFill/>
          <a:ln w="12700" cap="flat" cmpd="sng">
            <a:solidFill>
              <a:srgbClr val="437DB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Quattrocento Sans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Requerimientos por área de negocio documentados</a:t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920312" y="3429000"/>
            <a:ext cx="1482600" cy="164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7DB2"/>
              </a:buClr>
              <a:buSzPts val="1200"/>
              <a:buFont typeface="Quattrocento Sans"/>
              <a:buNone/>
            </a:pPr>
            <a:r>
              <a:rPr lang="en-US" sz="1200" b="1" i="0" u="none" strike="noStrike" cap="none">
                <a:solidFill>
                  <a:srgbClr val="437DB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Entregables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endParaRPr sz="1100" b="1" i="0" u="none" strike="noStrike" cap="none">
              <a:solidFill>
                <a:srgbClr val="437DB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rgbClr val="437DB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71450" marR="0" lvl="0" indent="-952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437DB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rgbClr val="437DB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698389" y="3664032"/>
            <a:ext cx="271613" cy="257116"/>
          </a:xfrm>
          <a:prstGeom prst="rect">
            <a:avLst/>
          </a:prstGeom>
          <a:solidFill>
            <a:srgbClr val="437DB2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709437" y="4586411"/>
            <a:ext cx="271613" cy="257116"/>
          </a:xfrm>
          <a:prstGeom prst="rect">
            <a:avLst/>
          </a:prstGeom>
          <a:solidFill>
            <a:srgbClr val="437DB2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pic>
        <p:nvPicPr>
          <p:cNvPr id="281" name="Google Shape;281;p7"/>
          <p:cNvPicPr preferRelativeResize="0"/>
          <p:nvPr/>
        </p:nvPicPr>
        <p:blipFill rotWithShape="1">
          <a:blip r:embed="rId5">
            <a:alphaModFix/>
          </a:blip>
          <a:srcRect t="2905"/>
          <a:stretch>
            <a:fillRect/>
          </a:stretch>
        </p:blipFill>
        <p:spPr>
          <a:xfrm>
            <a:off x="3411093" y="1438315"/>
            <a:ext cx="3098564" cy="504695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82" name="Google Shape;282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52483" y="1287339"/>
            <a:ext cx="5012744" cy="137472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83" name="Google Shape;283;p7"/>
          <p:cNvPicPr preferRelativeResize="0"/>
          <p:nvPr/>
        </p:nvPicPr>
        <p:blipFill rotWithShape="1">
          <a:blip r:embed="rId7">
            <a:alphaModFix/>
          </a:blip>
          <a:srcRect t="8472"/>
          <a:stretch>
            <a:fillRect/>
          </a:stretch>
        </p:blipFill>
        <p:spPr>
          <a:xfrm>
            <a:off x="6653345" y="3518703"/>
            <a:ext cx="5012743" cy="296464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84" name="Google Shape;284;p7"/>
          <p:cNvSpPr txBox="1"/>
          <p:nvPr/>
        </p:nvSpPr>
        <p:spPr>
          <a:xfrm>
            <a:off x="3603804" y="979562"/>
            <a:ext cx="26561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1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 detailed description</a:t>
            </a:r>
            <a:endParaRPr sz="1400" b="1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 txBox="1"/>
          <p:nvPr/>
        </p:nvSpPr>
        <p:spPr>
          <a:xfrm>
            <a:off x="7830798" y="979562"/>
            <a:ext cx="26561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1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Process </a:t>
            </a:r>
            <a:r>
              <a:rPr lang="en-US" sz="140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1400" b="1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 chart</a:t>
            </a:r>
            <a:endParaRPr/>
          </a:p>
        </p:txBody>
      </p:sp>
      <p:sp>
        <p:nvSpPr>
          <p:cNvPr id="286" name="Google Shape;286;p7"/>
          <p:cNvSpPr txBox="1"/>
          <p:nvPr/>
        </p:nvSpPr>
        <p:spPr>
          <a:xfrm>
            <a:off x="7830798" y="2936493"/>
            <a:ext cx="26561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1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Requirements per department</a:t>
            </a:r>
            <a:endParaRPr sz="1400" b="1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769485" y="5780393"/>
            <a:ext cx="1790081" cy="784051"/>
          </a:xfrm>
          <a:prstGeom prst="rect">
            <a:avLst/>
          </a:prstGeom>
          <a:noFill/>
          <a:ln w="12700" cap="flat" cmpd="sng">
            <a:solidFill>
              <a:srgbClr val="437DB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Alternativas de solución y costos estimados de licenciamiento / roadmap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709437" y="5612977"/>
            <a:ext cx="271613" cy="257116"/>
          </a:xfrm>
          <a:prstGeom prst="rect">
            <a:avLst/>
          </a:prstGeom>
          <a:solidFill>
            <a:srgbClr val="437DB2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Quattrocento San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pic>
        <p:nvPicPr>
          <p:cNvPr id="289" name="Google Shape;289;p7" descr="Lights On with solid fil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82679" y="5721050"/>
            <a:ext cx="284452" cy="273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"/>
          <p:cNvSpPr/>
          <p:nvPr/>
        </p:nvSpPr>
        <p:spPr>
          <a:xfrm>
            <a:off x="708091" y="1443741"/>
            <a:ext cx="11359361" cy="5113518"/>
          </a:xfrm>
          <a:prstGeom prst="rightArrow">
            <a:avLst>
              <a:gd name="adj1" fmla="val 100000"/>
              <a:gd name="adj2" fmla="val 50000"/>
            </a:avLst>
          </a:prstGeom>
          <a:solidFill>
            <a:srgbClr val="E9EDF1"/>
          </a:solidFill>
          <a:ln w="381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623275" y="1536700"/>
            <a:ext cx="10828667" cy="1717099"/>
          </a:xfrm>
          <a:prstGeom prst="rect">
            <a:avLst/>
          </a:prstGeom>
          <a:solidFill>
            <a:srgbClr val="33CCCC">
              <a:alpha val="29803"/>
            </a:srgbClr>
          </a:solidFill>
          <a:ln w="3810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612215" y="3318629"/>
            <a:ext cx="10839728" cy="796406"/>
          </a:xfrm>
          <a:prstGeom prst="rect">
            <a:avLst/>
          </a:prstGeom>
          <a:solidFill>
            <a:srgbClr val="33CCCC">
              <a:alpha val="29803"/>
            </a:srgbClr>
          </a:solidFill>
          <a:ln w="3810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612214" y="4236587"/>
            <a:ext cx="10839728" cy="2329258"/>
          </a:xfrm>
          <a:prstGeom prst="rect">
            <a:avLst/>
          </a:prstGeom>
          <a:solidFill>
            <a:srgbClr val="33CCCC">
              <a:alpha val="29803"/>
            </a:srgbClr>
          </a:solidFill>
          <a:ln w="3810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9" name="Google Shape;299;p8"/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300" name="Google Shape;300;p8"/>
            <p:cNvSpPr/>
            <p:nvPr/>
          </p:nvSpPr>
          <p:spPr>
            <a:xfrm>
              <a:off x="-1" y="0"/>
              <a:ext cx="66896" cy="6858000"/>
            </a:xfrm>
            <a:prstGeom prst="rect">
              <a:avLst/>
            </a:prstGeom>
            <a:solidFill>
              <a:srgbClr val="3B6E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8"/>
            <p:cNvSpPr txBox="1"/>
            <p:nvPr/>
          </p:nvSpPr>
          <p:spPr>
            <a:xfrm>
              <a:off x="66895" y="-1"/>
              <a:ext cx="12125105" cy="517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rgbClr val="3B6E8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     Requirements (1)</a:t>
              </a:r>
              <a:endParaRPr sz="2400" b="1" dirty="0">
                <a:solidFill>
                  <a:srgbClr val="3B6E8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302" name="Google Shape;302;p8"/>
            <p:cNvCxnSpPr/>
            <p:nvPr/>
          </p:nvCxnSpPr>
          <p:spPr>
            <a:xfrm rot="10800000" flipH="1">
              <a:off x="65667" y="510139"/>
              <a:ext cx="12126333" cy="21566"/>
            </a:xfrm>
            <a:prstGeom prst="straightConnector1">
              <a:avLst/>
            </a:prstGeom>
            <a:noFill/>
            <a:ln w="9525" cap="flat" cmpd="sng">
              <a:solidFill>
                <a:srgbClr val="3B6E8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03" name="Google Shape;303;p8"/>
          <p:cNvSpPr/>
          <p:nvPr/>
        </p:nvSpPr>
        <p:spPr>
          <a:xfrm>
            <a:off x="759547" y="3340361"/>
            <a:ext cx="8481827" cy="756192"/>
          </a:xfrm>
          <a:prstGeom prst="rect">
            <a:avLst/>
          </a:prstGeom>
          <a:solidFill>
            <a:srgbClr val="264664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Contable/Financiero</a:t>
            </a:r>
            <a:endParaRPr sz="2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759547" y="1625492"/>
            <a:ext cx="8481827" cy="756192"/>
          </a:xfrm>
          <a:prstGeom prst="rect">
            <a:avLst/>
          </a:prstGeom>
          <a:solidFill>
            <a:srgbClr val="264664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Administrativo</a:t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759547" y="2464430"/>
            <a:ext cx="8481827" cy="751482"/>
          </a:xfrm>
          <a:prstGeom prst="rect">
            <a:avLst/>
          </a:prstGeom>
          <a:solidFill>
            <a:srgbClr val="264664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Recursos Humanos</a:t>
            </a:r>
            <a:endParaRPr sz="2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 txBox="1"/>
          <p:nvPr/>
        </p:nvSpPr>
        <p:spPr>
          <a:xfrm rot="-5400000">
            <a:off x="-417379" y="2712209"/>
            <a:ext cx="17514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1">
                <a:solidFill>
                  <a:srgbClr val="264664"/>
                </a:solidFill>
                <a:latin typeface="Calibri"/>
                <a:ea typeface="Calibri"/>
                <a:cs typeface="Calibri"/>
                <a:sym typeface="Calibri"/>
              </a:rPr>
              <a:t>Procesos de soporte</a:t>
            </a:r>
            <a:endParaRPr sz="1400" b="1" i="1">
              <a:solidFill>
                <a:srgbClr val="2646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 txBox="1"/>
          <p:nvPr/>
        </p:nvSpPr>
        <p:spPr>
          <a:xfrm>
            <a:off x="4375233" y="6543328"/>
            <a:ext cx="25711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1">
                <a:solidFill>
                  <a:srgbClr val="437DB2"/>
                </a:solidFill>
                <a:latin typeface="Calibri"/>
                <a:ea typeface="Calibri"/>
                <a:cs typeface="Calibri"/>
                <a:sym typeface="Calibri"/>
              </a:rPr>
              <a:t>Procesos Misionales</a:t>
            </a:r>
            <a:endParaRPr sz="1400" b="1" i="1">
              <a:solidFill>
                <a:srgbClr val="437D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 txBox="1"/>
          <p:nvPr/>
        </p:nvSpPr>
        <p:spPr>
          <a:xfrm>
            <a:off x="4357174" y="1634078"/>
            <a:ext cx="425897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Gestión de oficina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Gestión de compras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Gestión de contratos</a:t>
            </a:r>
            <a:endParaRPr sz="1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 txBox="1"/>
          <p:nvPr/>
        </p:nvSpPr>
        <p:spPr>
          <a:xfrm>
            <a:off x="4357174" y="3236929"/>
            <a:ext cx="488420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CXC / CXP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Gestión de reportes contable y financieros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Elaboración cash-flow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Caja chica</a:t>
            </a:r>
            <a:endParaRPr/>
          </a:p>
        </p:txBody>
      </p:sp>
      <p:sp>
        <p:nvSpPr>
          <p:cNvPr id="310" name="Google Shape;310;p8"/>
          <p:cNvSpPr txBox="1"/>
          <p:nvPr/>
        </p:nvSpPr>
        <p:spPr>
          <a:xfrm>
            <a:off x="4375233" y="2556403"/>
            <a:ext cx="437506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Reclutamiento de personal y liquidación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Onboarding y gestión de personal</a:t>
            </a:r>
            <a:endParaRPr sz="1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786297" y="4292998"/>
            <a:ext cx="2574503" cy="2159041"/>
          </a:xfrm>
          <a:prstGeom prst="rect">
            <a:avLst/>
          </a:prstGeom>
          <a:solidFill>
            <a:srgbClr val="437DB2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Comercial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1.1 Compras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1.2 Ventas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1.3 Futuros</a:t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6679668" y="4292998"/>
            <a:ext cx="2574503" cy="2159041"/>
          </a:xfrm>
          <a:prstGeom prst="rect">
            <a:avLst/>
          </a:prstGeom>
          <a:solidFill>
            <a:srgbClr val="437DB2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Ejecuciones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3.1 Contratos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3.2 Documentos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3.3 Cobranzas</a:t>
            </a:r>
            <a:endParaRPr sz="1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3749505" y="4292998"/>
            <a:ext cx="2574500" cy="2159041"/>
          </a:xfrm>
          <a:prstGeom prst="rect">
            <a:avLst/>
          </a:prstGeom>
          <a:solidFill>
            <a:srgbClr val="437DB2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Logística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2.1 Gestión Logística</a:t>
            </a:r>
            <a:endParaRPr/>
          </a:p>
        </p:txBody>
      </p:sp>
      <p:sp>
        <p:nvSpPr>
          <p:cNvPr id="314" name="Google Shape;314;p8"/>
          <p:cNvSpPr txBox="1"/>
          <p:nvPr/>
        </p:nvSpPr>
        <p:spPr>
          <a:xfrm>
            <a:off x="236618" y="729336"/>
            <a:ext cx="1184108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Based </a:t>
            </a:r>
            <a:r>
              <a:rPr lang="en-US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 the impact in business and improvement areas, the following Value Chain displays the priorities for the digital transformation</a:t>
            </a:r>
            <a:endParaRPr sz="1600" u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9378136" y="4745656"/>
            <a:ext cx="1908496" cy="1267861"/>
          </a:xfrm>
          <a:prstGeom prst="rect">
            <a:avLst/>
          </a:prstGeom>
          <a:solidFill>
            <a:srgbClr val="009CAD"/>
          </a:solidFill>
          <a:ln w="1270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9378136" y="3446439"/>
            <a:ext cx="1908496" cy="554061"/>
          </a:xfrm>
          <a:prstGeom prst="rect">
            <a:avLst/>
          </a:prstGeom>
          <a:solidFill>
            <a:srgbClr val="009CAD"/>
          </a:solidFill>
          <a:ln w="1270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/>
          </a:p>
        </p:txBody>
      </p:sp>
      <p:sp>
        <p:nvSpPr>
          <p:cNvPr id="317" name="Google Shape;317;p8"/>
          <p:cNvSpPr/>
          <p:nvPr/>
        </p:nvSpPr>
        <p:spPr>
          <a:xfrm>
            <a:off x="9378136" y="2154207"/>
            <a:ext cx="1908496" cy="554061"/>
          </a:xfrm>
          <a:prstGeom prst="rect">
            <a:avLst/>
          </a:prstGeom>
          <a:solidFill>
            <a:srgbClr val="009CAD"/>
          </a:solidFill>
          <a:ln w="1270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P3</a:t>
            </a:r>
            <a:endParaRPr/>
          </a:p>
        </p:txBody>
      </p:sp>
      <p:sp>
        <p:nvSpPr>
          <p:cNvPr id="318" name="Google Shape;318;p8"/>
          <p:cNvSpPr txBox="1"/>
          <p:nvPr/>
        </p:nvSpPr>
        <p:spPr>
          <a:xfrm>
            <a:off x="9448800" y="6483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"/>
          <p:cNvSpPr txBox="1"/>
          <p:nvPr/>
        </p:nvSpPr>
        <p:spPr>
          <a:xfrm>
            <a:off x="9448800" y="6483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p9" descr="Agile Icon Images – Browse 19,888 Stock Photos, Vectors, and Video | Adobe  Stock"/>
          <p:cNvPicPr preferRelativeResize="0"/>
          <p:nvPr/>
        </p:nvPicPr>
        <p:blipFill rotWithShape="1">
          <a:blip r:embed="rId3">
            <a:alphaModFix/>
          </a:blip>
          <a:srcRect t="5706" b="10269"/>
          <a:stretch/>
        </p:blipFill>
        <p:spPr>
          <a:xfrm>
            <a:off x="4814522" y="5867869"/>
            <a:ext cx="1008461" cy="847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9" descr="Agile Icon Images – Browse 19,888 Stock Photos, Vectors, and Video | Adobe  Stock"/>
          <p:cNvPicPr preferRelativeResize="0"/>
          <p:nvPr/>
        </p:nvPicPr>
        <p:blipFill rotWithShape="1">
          <a:blip r:embed="rId3">
            <a:alphaModFix/>
          </a:blip>
          <a:srcRect t="5706" b="10269"/>
          <a:stretch/>
        </p:blipFill>
        <p:spPr>
          <a:xfrm>
            <a:off x="4814522" y="4969419"/>
            <a:ext cx="1008461" cy="847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9" descr="Agile Icon Images – Browse 19,888 Stock Photos, Vectors, and Video | Adobe  Stock"/>
          <p:cNvPicPr preferRelativeResize="0"/>
          <p:nvPr/>
        </p:nvPicPr>
        <p:blipFill rotWithShape="1">
          <a:blip r:embed="rId3">
            <a:alphaModFix/>
          </a:blip>
          <a:srcRect t="5706" b="10269"/>
          <a:stretch/>
        </p:blipFill>
        <p:spPr>
          <a:xfrm>
            <a:off x="4814522" y="4029150"/>
            <a:ext cx="1008461" cy="847353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/>
          <p:nvPr/>
        </p:nvSpPr>
        <p:spPr>
          <a:xfrm>
            <a:off x="989437" y="1784315"/>
            <a:ext cx="3880714" cy="4980748"/>
          </a:xfrm>
          <a:prstGeom prst="rect">
            <a:avLst/>
          </a:prstGeom>
          <a:noFill/>
          <a:ln w="12700" cap="flat" cmpd="sng">
            <a:solidFill>
              <a:schemeClr val="dk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endParaRPr sz="1600" b="1" i="0" u="none" strike="noStrike" cap="none">
              <a:solidFill>
                <a:srgbClr val="4454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4919378" y="1784315"/>
            <a:ext cx="2570734" cy="4980748"/>
          </a:xfrm>
          <a:prstGeom prst="rect">
            <a:avLst/>
          </a:prstGeom>
          <a:noFill/>
          <a:ln w="12700" cap="flat" cmpd="sng">
            <a:solidFill>
              <a:schemeClr val="dk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endParaRPr sz="1600" b="1" i="0" u="none" strike="noStrike" cap="none">
              <a:solidFill>
                <a:srgbClr val="4454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0" name="Google Shape;330;p9"/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331" name="Google Shape;331;p9"/>
            <p:cNvSpPr/>
            <p:nvPr/>
          </p:nvSpPr>
          <p:spPr>
            <a:xfrm>
              <a:off x="-1" y="0"/>
              <a:ext cx="66896" cy="6858000"/>
            </a:xfrm>
            <a:prstGeom prst="rect">
              <a:avLst/>
            </a:prstGeom>
            <a:solidFill>
              <a:srgbClr val="3B6E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9"/>
            <p:cNvSpPr txBox="1"/>
            <p:nvPr/>
          </p:nvSpPr>
          <p:spPr>
            <a:xfrm>
              <a:off x="66895" y="-1"/>
              <a:ext cx="12125105" cy="517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B6E8F"/>
                </a:buClr>
                <a:buSzPts val="2400"/>
                <a:buFont typeface="Quattrocento Sans"/>
                <a:buNone/>
              </a:pPr>
              <a:r>
                <a:rPr lang="en-US" sz="2400" b="1" i="0" u="none" strike="noStrike" cap="none" dirty="0">
                  <a:solidFill>
                    <a:srgbClr val="3B6E8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Requirements (2)</a:t>
              </a:r>
            </a:p>
          </p:txBody>
        </p:sp>
        <p:cxnSp>
          <p:nvCxnSpPr>
            <p:cNvPr id="333" name="Google Shape;333;p9"/>
            <p:cNvCxnSpPr/>
            <p:nvPr/>
          </p:nvCxnSpPr>
          <p:spPr>
            <a:xfrm rot="10800000" flipH="1">
              <a:off x="65667" y="510139"/>
              <a:ext cx="12126333" cy="21566"/>
            </a:xfrm>
            <a:prstGeom prst="straightConnector1">
              <a:avLst/>
            </a:prstGeom>
            <a:noFill/>
            <a:ln w="9525" cap="flat" cmpd="sng">
              <a:solidFill>
                <a:srgbClr val="3B6E8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334" name="Google Shape;334;p9"/>
          <p:cNvSpPr/>
          <p:nvPr/>
        </p:nvSpPr>
        <p:spPr>
          <a:xfrm>
            <a:off x="2299417" y="849878"/>
            <a:ext cx="1260754" cy="478350"/>
          </a:xfrm>
          <a:prstGeom prst="rect">
            <a:avLst/>
          </a:prstGeom>
          <a:solidFill>
            <a:srgbClr val="CBDEE3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Mes 2</a:t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3609398" y="849878"/>
            <a:ext cx="1260754" cy="478350"/>
          </a:xfrm>
          <a:prstGeom prst="rect">
            <a:avLst/>
          </a:prstGeom>
          <a:solidFill>
            <a:srgbClr val="CBDEE3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Mes 3</a:t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4919379" y="849875"/>
            <a:ext cx="1260754" cy="478350"/>
          </a:xfrm>
          <a:prstGeom prst="rect">
            <a:avLst/>
          </a:prstGeom>
          <a:solidFill>
            <a:srgbClr val="CBDEE3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Mes 4</a:t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6229360" y="849875"/>
            <a:ext cx="1260754" cy="478350"/>
          </a:xfrm>
          <a:prstGeom prst="rect">
            <a:avLst/>
          </a:prstGeom>
          <a:solidFill>
            <a:srgbClr val="CBDEE3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Mes 5</a:t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989436" y="849879"/>
            <a:ext cx="1260754" cy="478350"/>
          </a:xfrm>
          <a:prstGeom prst="rect">
            <a:avLst/>
          </a:prstGeom>
          <a:solidFill>
            <a:srgbClr val="CBDEE3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Mes 1</a:t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7539341" y="849875"/>
            <a:ext cx="1260754" cy="478350"/>
          </a:xfrm>
          <a:prstGeom prst="rect">
            <a:avLst/>
          </a:prstGeom>
          <a:solidFill>
            <a:srgbClr val="CBDEE3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Mes 6</a:t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8849322" y="849875"/>
            <a:ext cx="1260754" cy="478350"/>
          </a:xfrm>
          <a:prstGeom prst="rect">
            <a:avLst/>
          </a:prstGeom>
          <a:solidFill>
            <a:srgbClr val="CBDEE3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Mes 7</a:t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10159303" y="849875"/>
            <a:ext cx="1260754" cy="478350"/>
          </a:xfrm>
          <a:prstGeom prst="rect">
            <a:avLst/>
          </a:prstGeom>
          <a:solidFill>
            <a:srgbClr val="CBDEE3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Mes 8</a:t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989437" y="1374138"/>
            <a:ext cx="3880714" cy="365760"/>
          </a:xfrm>
          <a:prstGeom prst="rect">
            <a:avLst/>
          </a:prstGeom>
          <a:solidFill>
            <a:srgbClr val="D6DCE5"/>
          </a:solidFill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Ola 1</a:t>
            </a: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4919379" y="1374138"/>
            <a:ext cx="2570734" cy="365760"/>
          </a:xfrm>
          <a:prstGeom prst="rect">
            <a:avLst/>
          </a:prstGeom>
          <a:solidFill>
            <a:srgbClr val="D6DCE5"/>
          </a:solidFill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Ola 2</a:t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7539341" y="1374138"/>
            <a:ext cx="3880716" cy="360336"/>
          </a:xfrm>
          <a:prstGeom prst="rect">
            <a:avLst/>
          </a:prstGeom>
          <a:solidFill>
            <a:srgbClr val="D6DCE5"/>
          </a:solidFill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Ola 3</a:t>
            </a:r>
            <a:endParaRPr/>
          </a:p>
        </p:txBody>
      </p:sp>
      <p:pic>
        <p:nvPicPr>
          <p:cNvPr id="345" name="Google Shape;345;p9" descr="Agile Icon Images – Browse 19,888 Stock Photos, Vectors, and Video | Adobe  Stoc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2611" y="4513141"/>
            <a:ext cx="1008461" cy="1008461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9"/>
          <p:cNvSpPr txBox="1"/>
          <p:nvPr/>
        </p:nvSpPr>
        <p:spPr>
          <a:xfrm>
            <a:off x="2355962" y="4781470"/>
            <a:ext cx="104791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CAD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9CAD"/>
                </a:solidFill>
                <a:latin typeface="Calibri"/>
                <a:ea typeface="Calibri"/>
                <a:cs typeface="Calibri"/>
                <a:sym typeface="Calibri"/>
              </a:rPr>
              <a:t>Gestión comercial</a:t>
            </a:r>
            <a:endParaRPr/>
          </a:p>
        </p:txBody>
      </p:sp>
      <p:pic>
        <p:nvPicPr>
          <p:cNvPr id="347" name="Google Shape;347;p9" descr="Agile Icon Images – Browse 19,888 Stock Photos, Vectors, and Video | Adobe  Stoc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2611" y="5485300"/>
            <a:ext cx="1008461" cy="1008461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9"/>
          <p:cNvSpPr txBox="1"/>
          <p:nvPr/>
        </p:nvSpPr>
        <p:spPr>
          <a:xfrm>
            <a:off x="2364176" y="5717910"/>
            <a:ext cx="100846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6E8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3B6E8E"/>
                </a:solidFill>
                <a:latin typeface="Calibri"/>
                <a:ea typeface="Calibri"/>
                <a:cs typeface="Calibri"/>
                <a:sym typeface="Calibri"/>
              </a:rPr>
              <a:t>Gestión logística y </a:t>
            </a:r>
            <a:r>
              <a:rPr lang="en-US" sz="1000" b="1" i="0" u="none" strike="noStrike" cap="non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documental</a:t>
            </a:r>
            <a:endParaRPr/>
          </a:p>
        </p:txBody>
      </p:sp>
      <p:sp>
        <p:nvSpPr>
          <p:cNvPr id="349" name="Google Shape;349;p9"/>
          <p:cNvSpPr txBox="1"/>
          <p:nvPr/>
        </p:nvSpPr>
        <p:spPr>
          <a:xfrm>
            <a:off x="5546052" y="6091490"/>
            <a:ext cx="113646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Automatizaciones de ejecuciones</a:t>
            </a: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1076265" y="3631801"/>
            <a:ext cx="6380416" cy="151625"/>
          </a:xfrm>
          <a:prstGeom prst="rect">
            <a:avLst/>
          </a:prstGeom>
          <a:solidFill>
            <a:srgbClr val="3B6E8E"/>
          </a:solidFill>
          <a:ln w="12700" cap="flat" cmpd="sng">
            <a:solidFill>
              <a:srgbClr val="3B6E8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Logística</a:t>
            </a:r>
            <a:endParaRPr/>
          </a:p>
        </p:txBody>
      </p:sp>
      <p:sp>
        <p:nvSpPr>
          <p:cNvPr id="351" name="Google Shape;351;p9"/>
          <p:cNvSpPr/>
          <p:nvPr/>
        </p:nvSpPr>
        <p:spPr>
          <a:xfrm>
            <a:off x="1076265" y="3809949"/>
            <a:ext cx="10341901" cy="151625"/>
          </a:xfrm>
          <a:prstGeom prst="rect">
            <a:avLst/>
          </a:prstGeom>
          <a:solidFill>
            <a:schemeClr val="dk2"/>
          </a:solidFill>
          <a:ln w="12700" cap="flat" cmpd="sng">
            <a:solidFill>
              <a:srgbClr val="44546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Ejecuciones</a:t>
            </a:r>
            <a:endParaRPr/>
          </a:p>
        </p:txBody>
      </p:sp>
      <p:sp>
        <p:nvSpPr>
          <p:cNvPr id="352" name="Google Shape;352;p9"/>
          <p:cNvSpPr/>
          <p:nvPr/>
        </p:nvSpPr>
        <p:spPr>
          <a:xfrm>
            <a:off x="7626534" y="3988097"/>
            <a:ext cx="3791632" cy="151625"/>
          </a:xfrm>
          <a:prstGeom prst="rect">
            <a:avLst/>
          </a:prstGeom>
          <a:solidFill>
            <a:srgbClr val="5C628F"/>
          </a:solidFill>
          <a:ln w="1270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Contabilidad y finanzas</a:t>
            </a:r>
            <a:endParaRPr/>
          </a:p>
        </p:txBody>
      </p:sp>
      <p:sp>
        <p:nvSpPr>
          <p:cNvPr id="353" name="Google Shape;353;p9"/>
          <p:cNvSpPr/>
          <p:nvPr/>
        </p:nvSpPr>
        <p:spPr>
          <a:xfrm>
            <a:off x="1076264" y="3453653"/>
            <a:ext cx="6380415" cy="151625"/>
          </a:xfrm>
          <a:prstGeom prst="rect">
            <a:avLst/>
          </a:prstGeom>
          <a:solidFill>
            <a:srgbClr val="009CAD"/>
          </a:solidFill>
          <a:ln w="1270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Comercial</a:t>
            </a:r>
            <a:endParaRPr/>
          </a:p>
        </p:txBody>
      </p:sp>
      <p:sp>
        <p:nvSpPr>
          <p:cNvPr id="354" name="Google Shape;354;p9"/>
          <p:cNvSpPr txBox="1"/>
          <p:nvPr/>
        </p:nvSpPr>
        <p:spPr>
          <a:xfrm>
            <a:off x="5581833" y="5048097"/>
            <a:ext cx="922356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6E8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3B6E8E"/>
                </a:solidFill>
                <a:latin typeface="Calibri"/>
                <a:ea typeface="Calibri"/>
                <a:cs typeface="Calibri"/>
                <a:sym typeface="Calibri"/>
              </a:rPr>
              <a:t>Shipment schedule y gestión de insumos log.</a:t>
            </a:r>
            <a:endParaRPr/>
          </a:p>
        </p:txBody>
      </p:sp>
      <p:sp>
        <p:nvSpPr>
          <p:cNvPr id="355" name="Google Shape;355;p9"/>
          <p:cNvSpPr txBox="1"/>
          <p:nvPr/>
        </p:nvSpPr>
        <p:spPr>
          <a:xfrm>
            <a:off x="5597756" y="4241827"/>
            <a:ext cx="86712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828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8828C"/>
                </a:solidFill>
                <a:latin typeface="Calibri"/>
                <a:ea typeface="Calibri"/>
                <a:cs typeface="Calibri"/>
                <a:sym typeface="Calibri"/>
              </a:rPr>
              <a:t>Análisis de mercado</a:t>
            </a:r>
            <a:endParaRPr/>
          </a:p>
        </p:txBody>
      </p:sp>
      <p:pic>
        <p:nvPicPr>
          <p:cNvPr id="356" name="Google Shape;356;p9" descr="Agile Icon Images – Browse 19,888 Stock Photos, Vectors, and Video | Adobe  Stock"/>
          <p:cNvPicPr preferRelativeResize="0"/>
          <p:nvPr/>
        </p:nvPicPr>
        <p:blipFill rotWithShape="1">
          <a:blip r:embed="rId3">
            <a:alphaModFix/>
          </a:blip>
          <a:srcRect t="5706" b="10269"/>
          <a:stretch/>
        </p:blipFill>
        <p:spPr>
          <a:xfrm>
            <a:off x="7656483" y="5867869"/>
            <a:ext cx="1008461" cy="847353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9"/>
          <p:cNvSpPr txBox="1"/>
          <p:nvPr/>
        </p:nvSpPr>
        <p:spPr>
          <a:xfrm>
            <a:off x="8415921" y="6186248"/>
            <a:ext cx="100846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28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5C628F"/>
                </a:solidFill>
                <a:latin typeface="Calibri"/>
                <a:ea typeface="Calibri"/>
                <a:cs typeface="Calibri"/>
                <a:sym typeface="Calibri"/>
              </a:rPr>
              <a:t>G. Contable y financiera</a:t>
            </a:r>
            <a:endParaRPr/>
          </a:p>
        </p:txBody>
      </p:sp>
      <p:pic>
        <p:nvPicPr>
          <p:cNvPr id="358" name="Google Shape;358;p9" descr="Agile Icon Images – Browse 19,888 Stock Photos, Vectors, and Video | Adobe  Stock"/>
          <p:cNvPicPr preferRelativeResize="0"/>
          <p:nvPr/>
        </p:nvPicPr>
        <p:blipFill rotWithShape="1">
          <a:blip r:embed="rId3">
            <a:alphaModFix/>
          </a:blip>
          <a:srcRect t="5706" b="10269"/>
          <a:stretch/>
        </p:blipFill>
        <p:spPr>
          <a:xfrm>
            <a:off x="7656483" y="5054481"/>
            <a:ext cx="1008461" cy="847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9" descr="Agile Icon Images – Browse 19,888 Stock Photos, Vectors, and Video | Adobe  Stock"/>
          <p:cNvPicPr preferRelativeResize="0"/>
          <p:nvPr/>
        </p:nvPicPr>
        <p:blipFill rotWithShape="1">
          <a:blip r:embed="rId3">
            <a:alphaModFix/>
          </a:blip>
          <a:srcRect t="5706" b="10269"/>
          <a:stretch/>
        </p:blipFill>
        <p:spPr>
          <a:xfrm>
            <a:off x="7656483" y="4273703"/>
            <a:ext cx="1008461" cy="847353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9"/>
          <p:cNvSpPr/>
          <p:nvPr/>
        </p:nvSpPr>
        <p:spPr>
          <a:xfrm>
            <a:off x="7548441" y="1784315"/>
            <a:ext cx="3939221" cy="4980748"/>
          </a:xfrm>
          <a:prstGeom prst="rect">
            <a:avLst/>
          </a:prstGeom>
          <a:noFill/>
          <a:ln w="12700" cap="flat" cmpd="sng">
            <a:solidFill>
              <a:schemeClr val="dk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endParaRPr sz="1600" b="1" i="0" u="none" strike="noStrike" cap="none">
              <a:solidFill>
                <a:srgbClr val="4454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1076263" y="1933848"/>
            <a:ext cx="10341901" cy="143705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endParaRPr sz="1600" b="1" i="0" u="none" strike="noStrike" cap="none">
              <a:solidFill>
                <a:srgbClr val="4454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2" name="Google Shape;362;p9" descr="Agile Icon Images – Browse 19,888 Stock Photos, Vectors, and Video | Adobe  Stock"/>
          <p:cNvPicPr preferRelativeResize="0"/>
          <p:nvPr/>
        </p:nvPicPr>
        <p:blipFill rotWithShape="1">
          <a:blip r:embed="rId3">
            <a:alphaModFix/>
          </a:blip>
          <a:srcRect l="10077" t="12679" r="10067" b="12769"/>
          <a:stretch/>
        </p:blipFill>
        <p:spPr>
          <a:xfrm>
            <a:off x="5943510" y="1986298"/>
            <a:ext cx="1403947" cy="1320867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9"/>
          <p:cNvSpPr/>
          <p:nvPr/>
        </p:nvSpPr>
        <p:spPr>
          <a:xfrm>
            <a:off x="6955185" y="2663817"/>
            <a:ext cx="114586" cy="115474"/>
          </a:xfrm>
          <a:prstGeom prst="ellipse">
            <a:avLst/>
          </a:prstGeom>
          <a:solidFill>
            <a:schemeClr val="dk2"/>
          </a:solidFill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6850536" y="2255717"/>
            <a:ext cx="114586" cy="115474"/>
          </a:xfrm>
          <a:prstGeom prst="ellipse">
            <a:avLst/>
          </a:prstGeom>
          <a:solidFill>
            <a:schemeClr val="dk2"/>
          </a:solidFill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6949258" y="3051651"/>
            <a:ext cx="114586" cy="115474"/>
          </a:xfrm>
          <a:prstGeom prst="ellipse">
            <a:avLst/>
          </a:prstGeom>
          <a:solidFill>
            <a:schemeClr val="dk2"/>
          </a:solidFill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6214350" y="2172273"/>
            <a:ext cx="114586" cy="115474"/>
          </a:xfrm>
          <a:prstGeom prst="ellipse">
            <a:avLst/>
          </a:prstGeom>
          <a:solidFill>
            <a:schemeClr val="dk2"/>
          </a:solidFill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 txBox="1"/>
          <p:nvPr/>
        </p:nvSpPr>
        <p:spPr>
          <a:xfrm>
            <a:off x="7052608" y="2600315"/>
            <a:ext cx="69794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Diseño </a:t>
            </a:r>
            <a:endParaRPr/>
          </a:p>
        </p:txBody>
      </p:sp>
      <p:sp>
        <p:nvSpPr>
          <p:cNvPr id="368" name="Google Shape;368;p9"/>
          <p:cNvSpPr txBox="1"/>
          <p:nvPr/>
        </p:nvSpPr>
        <p:spPr>
          <a:xfrm>
            <a:off x="6932611" y="2210257"/>
            <a:ext cx="107626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Construcción</a:t>
            </a:r>
            <a:endParaRPr/>
          </a:p>
        </p:txBody>
      </p:sp>
      <p:sp>
        <p:nvSpPr>
          <p:cNvPr id="369" name="Google Shape;369;p9"/>
          <p:cNvSpPr txBox="1"/>
          <p:nvPr/>
        </p:nvSpPr>
        <p:spPr>
          <a:xfrm>
            <a:off x="5653290" y="2081581"/>
            <a:ext cx="64037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Pruebas</a:t>
            </a:r>
            <a:endParaRPr/>
          </a:p>
        </p:txBody>
      </p:sp>
      <p:sp>
        <p:nvSpPr>
          <p:cNvPr id="370" name="Google Shape;370;p9"/>
          <p:cNvSpPr txBox="1"/>
          <p:nvPr/>
        </p:nvSpPr>
        <p:spPr>
          <a:xfrm>
            <a:off x="7226654" y="2963443"/>
            <a:ext cx="109249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Salida en vivo</a:t>
            </a:r>
            <a:endParaRPr/>
          </a:p>
        </p:txBody>
      </p:sp>
      <p:sp>
        <p:nvSpPr>
          <p:cNvPr id="371" name="Google Shape;371;p9"/>
          <p:cNvSpPr/>
          <p:nvPr/>
        </p:nvSpPr>
        <p:spPr>
          <a:xfrm>
            <a:off x="6013006" y="2474803"/>
            <a:ext cx="114586" cy="115474"/>
          </a:xfrm>
          <a:prstGeom prst="ellipse">
            <a:avLst/>
          </a:prstGeom>
          <a:solidFill>
            <a:schemeClr val="dk2"/>
          </a:solidFill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 txBox="1"/>
          <p:nvPr/>
        </p:nvSpPr>
        <p:spPr>
          <a:xfrm>
            <a:off x="5339965" y="2379181"/>
            <a:ext cx="8093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Migración de datos</a:t>
            </a:r>
            <a:endParaRPr/>
          </a:p>
        </p:txBody>
      </p:sp>
      <p:sp>
        <p:nvSpPr>
          <p:cNvPr id="373" name="Google Shape;373;p9"/>
          <p:cNvSpPr txBox="1"/>
          <p:nvPr/>
        </p:nvSpPr>
        <p:spPr>
          <a:xfrm>
            <a:off x="5214302" y="2796922"/>
            <a:ext cx="98978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Entrenamiento</a:t>
            </a:r>
            <a:endParaRPr/>
          </a:p>
        </p:txBody>
      </p:sp>
      <p:sp>
        <p:nvSpPr>
          <p:cNvPr id="374" name="Google Shape;374;p9"/>
          <p:cNvSpPr/>
          <p:nvPr/>
        </p:nvSpPr>
        <p:spPr>
          <a:xfrm>
            <a:off x="6116444" y="2854692"/>
            <a:ext cx="146449" cy="136761"/>
          </a:xfrm>
          <a:prstGeom prst="ellipse">
            <a:avLst/>
          </a:prstGeom>
          <a:solidFill>
            <a:schemeClr val="dk2"/>
          </a:solidFill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7626534" y="4166244"/>
            <a:ext cx="3791632" cy="151625"/>
          </a:xfrm>
          <a:prstGeom prst="rect">
            <a:avLst/>
          </a:prstGeom>
          <a:solidFill>
            <a:srgbClr val="5C628F"/>
          </a:solidFill>
          <a:ln w="1270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Administración</a:t>
            </a:r>
            <a:endParaRPr/>
          </a:p>
        </p:txBody>
      </p:sp>
      <p:sp>
        <p:nvSpPr>
          <p:cNvPr id="376" name="Google Shape;376;p9"/>
          <p:cNvSpPr txBox="1"/>
          <p:nvPr/>
        </p:nvSpPr>
        <p:spPr>
          <a:xfrm>
            <a:off x="8415921" y="5274622"/>
            <a:ext cx="100846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28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5C628F"/>
                </a:solidFill>
                <a:latin typeface="Calibri"/>
                <a:ea typeface="Calibri"/>
                <a:cs typeface="Calibri"/>
                <a:sym typeface="Calibri"/>
              </a:rPr>
              <a:t>Pago a proveedores</a:t>
            </a:r>
            <a:endParaRPr/>
          </a:p>
        </p:txBody>
      </p:sp>
      <p:sp>
        <p:nvSpPr>
          <p:cNvPr id="377" name="Google Shape;377;p9"/>
          <p:cNvSpPr txBox="1"/>
          <p:nvPr/>
        </p:nvSpPr>
        <p:spPr>
          <a:xfrm>
            <a:off x="8415921" y="4497606"/>
            <a:ext cx="100846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28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5C628F"/>
                </a:solidFill>
                <a:latin typeface="Calibri"/>
                <a:ea typeface="Calibri"/>
                <a:cs typeface="Calibri"/>
                <a:sym typeface="Calibri"/>
              </a:rPr>
              <a:t>Facturación y cobranzas</a:t>
            </a:r>
            <a:endParaRPr/>
          </a:p>
        </p:txBody>
      </p:sp>
      <p:pic>
        <p:nvPicPr>
          <p:cNvPr id="378" name="Google Shape;378;p9" descr="Bar chart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49386" y="5157961"/>
            <a:ext cx="559949" cy="55994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9"/>
          <p:cNvSpPr txBox="1"/>
          <p:nvPr/>
        </p:nvSpPr>
        <p:spPr>
          <a:xfrm>
            <a:off x="3664443" y="4915635"/>
            <a:ext cx="90222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</a:t>
            </a:r>
            <a:endParaRPr/>
          </a:p>
        </p:txBody>
      </p:sp>
      <p:sp>
        <p:nvSpPr>
          <p:cNvPr id="380" name="Google Shape;380;p9"/>
          <p:cNvSpPr/>
          <p:nvPr/>
        </p:nvSpPr>
        <p:spPr>
          <a:xfrm rot="5400000">
            <a:off x="3456580" y="5322774"/>
            <a:ext cx="182880" cy="9144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p9" descr="Bar chart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76960" y="5157961"/>
            <a:ext cx="559949" cy="55994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9"/>
          <p:cNvSpPr txBox="1"/>
          <p:nvPr/>
        </p:nvSpPr>
        <p:spPr>
          <a:xfrm>
            <a:off x="6592017" y="4915635"/>
            <a:ext cx="90222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</a:t>
            </a:r>
            <a:endParaRPr/>
          </a:p>
        </p:txBody>
      </p:sp>
      <p:sp>
        <p:nvSpPr>
          <p:cNvPr id="383" name="Google Shape;383;p9"/>
          <p:cNvSpPr/>
          <p:nvPr/>
        </p:nvSpPr>
        <p:spPr>
          <a:xfrm rot="5400000">
            <a:off x="6469213" y="5322774"/>
            <a:ext cx="182880" cy="9144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4" name="Google Shape;384;p9" descr="Agile Icon Images – Browse 19,888 Stock Photos, Vectors, and Video | Adobe  Stoc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58575" y="4436805"/>
            <a:ext cx="1008461" cy="1008461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9"/>
          <p:cNvSpPr txBox="1"/>
          <p:nvPr/>
        </p:nvSpPr>
        <p:spPr>
          <a:xfrm>
            <a:off x="9652227" y="4743024"/>
            <a:ext cx="14658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28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5C628F"/>
                </a:solidFill>
                <a:latin typeface="Calibri"/>
                <a:ea typeface="Calibri"/>
                <a:cs typeface="Calibri"/>
                <a:sym typeface="Calibri"/>
              </a:rPr>
              <a:t>Administración</a:t>
            </a:r>
            <a:endParaRPr/>
          </a:p>
        </p:txBody>
      </p:sp>
      <p:pic>
        <p:nvPicPr>
          <p:cNvPr id="386" name="Google Shape;386;p9" descr="Agile Icon Images – Browse 19,888 Stock Photos, Vectors, and Video | Adobe  Stoc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58575" y="5408964"/>
            <a:ext cx="1008461" cy="1008461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9"/>
          <p:cNvSpPr txBox="1"/>
          <p:nvPr/>
        </p:nvSpPr>
        <p:spPr>
          <a:xfrm>
            <a:off x="9552171" y="5743310"/>
            <a:ext cx="14658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28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5C628F"/>
                </a:solidFill>
                <a:latin typeface="Calibri"/>
                <a:ea typeface="Calibri"/>
                <a:cs typeface="Calibri"/>
                <a:sym typeface="Calibri"/>
              </a:rPr>
              <a:t>RH</a:t>
            </a:r>
            <a:endParaRPr/>
          </a:p>
        </p:txBody>
      </p:sp>
      <p:pic>
        <p:nvPicPr>
          <p:cNvPr id="388" name="Google Shape;388;p9" descr="Bar chart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00881" y="5157961"/>
            <a:ext cx="559949" cy="559949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9"/>
          <p:cNvSpPr txBox="1"/>
          <p:nvPr/>
        </p:nvSpPr>
        <p:spPr>
          <a:xfrm>
            <a:off x="10529741" y="4958250"/>
            <a:ext cx="90222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</a:t>
            </a:r>
            <a:endParaRPr/>
          </a:p>
        </p:txBody>
      </p:sp>
      <p:sp>
        <p:nvSpPr>
          <p:cNvPr id="390" name="Google Shape;390;p9"/>
          <p:cNvSpPr txBox="1"/>
          <p:nvPr/>
        </p:nvSpPr>
        <p:spPr>
          <a:xfrm>
            <a:off x="6109243" y="2407371"/>
            <a:ext cx="88503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96B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8296B0"/>
                </a:solidFill>
                <a:latin typeface="Calibri"/>
                <a:ea typeface="Calibri"/>
                <a:cs typeface="Calibri"/>
                <a:sym typeface="Calibri"/>
              </a:rPr>
              <a:t>Metodología Ágil</a:t>
            </a:r>
            <a:endParaRPr/>
          </a:p>
        </p:txBody>
      </p:sp>
      <p:sp>
        <p:nvSpPr>
          <p:cNvPr id="391" name="Google Shape;391;p9"/>
          <p:cNvSpPr/>
          <p:nvPr/>
        </p:nvSpPr>
        <p:spPr>
          <a:xfrm rot="5400000">
            <a:off x="10406385" y="5322774"/>
            <a:ext cx="182880" cy="9144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2" name="Google Shape;392;p9"/>
          <p:cNvCxnSpPr/>
          <p:nvPr/>
        </p:nvCxnSpPr>
        <p:spPr>
          <a:xfrm>
            <a:off x="991037" y="764904"/>
            <a:ext cx="0" cy="36576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10"/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399" name="Google Shape;399;p10"/>
            <p:cNvSpPr/>
            <p:nvPr/>
          </p:nvSpPr>
          <p:spPr>
            <a:xfrm>
              <a:off x="-1" y="0"/>
              <a:ext cx="66896" cy="6858000"/>
            </a:xfrm>
            <a:prstGeom prst="rect">
              <a:avLst/>
            </a:prstGeom>
            <a:solidFill>
              <a:srgbClr val="3B6E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0"/>
            <p:cNvSpPr txBox="1"/>
            <p:nvPr/>
          </p:nvSpPr>
          <p:spPr>
            <a:xfrm>
              <a:off x="66895" y="-1"/>
              <a:ext cx="12125105" cy="517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rgbClr val="3B6E8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      Requirements (3)</a:t>
              </a:r>
              <a:endParaRPr sz="2400" b="1" dirty="0">
                <a:solidFill>
                  <a:srgbClr val="3B6E8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401" name="Google Shape;401;p10"/>
            <p:cNvCxnSpPr/>
            <p:nvPr/>
          </p:nvCxnSpPr>
          <p:spPr>
            <a:xfrm rot="10800000" flipH="1">
              <a:off x="65667" y="510139"/>
              <a:ext cx="12126333" cy="21566"/>
            </a:xfrm>
            <a:prstGeom prst="straightConnector1">
              <a:avLst/>
            </a:prstGeom>
            <a:noFill/>
            <a:ln w="9525" cap="flat" cmpd="sng">
              <a:solidFill>
                <a:srgbClr val="3B6E8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02" name="Google Shape;402;p10"/>
          <p:cNvSpPr txBox="1"/>
          <p:nvPr/>
        </p:nvSpPr>
        <p:spPr>
          <a:xfrm>
            <a:off x="151554" y="729336"/>
            <a:ext cx="1184108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continuación, los requerimientos de las olas 1 y 2:</a:t>
            </a:r>
            <a:endParaRPr/>
          </a:p>
        </p:txBody>
      </p:sp>
      <p:sp>
        <p:nvSpPr>
          <p:cNvPr id="403" name="Google Shape;403;p10"/>
          <p:cNvSpPr/>
          <p:nvPr/>
        </p:nvSpPr>
        <p:spPr>
          <a:xfrm>
            <a:off x="194367" y="3455488"/>
            <a:ext cx="914400" cy="1920240"/>
          </a:xfrm>
          <a:prstGeom prst="rect">
            <a:avLst/>
          </a:prstGeom>
          <a:solidFill>
            <a:srgbClr val="3B6E8E"/>
          </a:solidFill>
          <a:ln w="12700" cap="flat" cmpd="sng">
            <a:solidFill>
              <a:srgbClr val="3B6E8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Logística</a:t>
            </a: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194367" y="5450484"/>
            <a:ext cx="914400" cy="960119"/>
          </a:xfrm>
          <a:prstGeom prst="rect">
            <a:avLst/>
          </a:prstGeom>
          <a:solidFill>
            <a:schemeClr val="dk2"/>
          </a:solidFill>
          <a:ln w="12700" cap="flat" cmpd="sng">
            <a:solidFill>
              <a:srgbClr val="44546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Ejecuciones</a:t>
            </a: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194368" y="1461103"/>
            <a:ext cx="914400" cy="1920240"/>
          </a:xfrm>
          <a:prstGeom prst="rect">
            <a:avLst/>
          </a:prstGeom>
          <a:solidFill>
            <a:srgbClr val="009CAD"/>
          </a:solidFill>
          <a:ln w="1270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Comercial</a:t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2023167" y="1461103"/>
            <a:ext cx="4138867" cy="320040"/>
          </a:xfrm>
          <a:prstGeom prst="rect">
            <a:avLst/>
          </a:prstGeom>
          <a:noFill/>
          <a:ln w="1270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C1 Configuración Basis / AFIX </a:t>
            </a:r>
            <a:endParaRPr sz="12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2023167" y="1781143"/>
            <a:ext cx="4138867" cy="320040"/>
          </a:xfrm>
          <a:prstGeom prst="rect">
            <a:avLst/>
          </a:prstGeom>
          <a:noFill/>
          <a:ln w="1270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C2 Registro de compras </a:t>
            </a:r>
            <a:endParaRPr sz="12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2023167" y="2101183"/>
            <a:ext cx="4138867" cy="320040"/>
          </a:xfrm>
          <a:prstGeom prst="rect">
            <a:avLst/>
          </a:prstGeom>
          <a:noFill/>
          <a:ln w="1270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C3 Reporte- Compras y ventas</a:t>
            </a:r>
            <a:endParaRPr sz="12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2023167" y="2421223"/>
            <a:ext cx="4138867" cy="320040"/>
          </a:xfrm>
          <a:prstGeom prst="rect">
            <a:avLst/>
          </a:prstGeom>
          <a:noFill/>
          <a:ln w="1270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C4 Reporte - Posición producto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2023167" y="2741263"/>
            <a:ext cx="4138867" cy="320040"/>
          </a:xfrm>
          <a:prstGeom prst="rect">
            <a:avLst/>
          </a:prstGeom>
          <a:noFill/>
          <a:ln w="1270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C5 Registro de futuros </a:t>
            </a:r>
            <a:endParaRPr sz="12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2023167" y="3061303"/>
            <a:ext cx="4138867" cy="320040"/>
          </a:xfrm>
          <a:prstGeom prst="rect">
            <a:avLst/>
          </a:prstGeom>
          <a:noFill/>
          <a:ln w="1270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C6/L6 Registro de costos logísticos y cotizador</a:t>
            </a:r>
            <a:endParaRPr sz="12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2" name="Google Shape;412;p10" descr="Bar chart outlin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2477" y="3091546"/>
            <a:ext cx="259553" cy="259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10" descr="Bar chart outlin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2477" y="2459473"/>
            <a:ext cx="259553" cy="259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10" descr="Bar chart outlin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2477" y="2136233"/>
            <a:ext cx="259553" cy="259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10" descr="Bar chart outlin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2477" y="2789076"/>
            <a:ext cx="259553" cy="259553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0"/>
          <p:cNvSpPr/>
          <p:nvPr/>
        </p:nvSpPr>
        <p:spPr>
          <a:xfrm>
            <a:off x="2023167" y="3455488"/>
            <a:ext cx="4138867" cy="320040"/>
          </a:xfrm>
          <a:prstGeom prst="rect">
            <a:avLst/>
          </a:prstGeom>
          <a:noFill/>
          <a:ln w="12700" cap="flat" cmpd="sng">
            <a:solidFill>
              <a:srgbClr val="3B6E8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L1 Notificación logística</a:t>
            </a: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2023167" y="3775528"/>
            <a:ext cx="4138867" cy="320040"/>
          </a:xfrm>
          <a:prstGeom prst="rect">
            <a:avLst/>
          </a:prstGeom>
          <a:noFill/>
          <a:ln w="12700" cap="flat" cmpd="sng">
            <a:solidFill>
              <a:srgbClr val="3B6E8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L2 Modulo logístico - Gestión de acciones logísticas</a:t>
            </a:r>
            <a:endParaRPr sz="12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2023167" y="4095568"/>
            <a:ext cx="4138867" cy="320040"/>
          </a:xfrm>
          <a:prstGeom prst="rect">
            <a:avLst/>
          </a:prstGeom>
          <a:noFill/>
          <a:ln w="12700" cap="flat" cmpd="sng">
            <a:solidFill>
              <a:srgbClr val="3B6E8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L3 Reporte: Desglose cargas y descargas de compras y ventas</a:t>
            </a:r>
            <a:endParaRPr/>
          </a:p>
        </p:txBody>
      </p:sp>
      <p:sp>
        <p:nvSpPr>
          <p:cNvPr id="419" name="Google Shape;419;p10"/>
          <p:cNvSpPr/>
          <p:nvPr/>
        </p:nvSpPr>
        <p:spPr>
          <a:xfrm>
            <a:off x="2023167" y="4415608"/>
            <a:ext cx="4138867" cy="320040"/>
          </a:xfrm>
          <a:prstGeom prst="rect">
            <a:avLst/>
          </a:prstGeom>
          <a:noFill/>
          <a:ln w="12700" cap="flat" cmpd="sng">
            <a:solidFill>
              <a:srgbClr val="3B6E8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L4 Código de acciones logísticas</a:t>
            </a:r>
            <a:endParaRPr sz="12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2023167" y="4735648"/>
            <a:ext cx="4138867" cy="320040"/>
          </a:xfrm>
          <a:prstGeom prst="rect">
            <a:avLst/>
          </a:prstGeom>
          <a:noFill/>
          <a:ln w="12700" cap="flat" cmpd="sng">
            <a:solidFill>
              <a:srgbClr val="3B6E8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L5 Reportes: </a:t>
            </a:r>
            <a:r>
              <a:rPr lang="en-US" sz="1100" b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Programación de acciones logísticas  / Shipment schedule /Planillas de carga de producto /Reporte de fletes</a:t>
            </a:r>
            <a:endParaRPr sz="12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2023167" y="5055688"/>
            <a:ext cx="4138867" cy="320040"/>
          </a:xfrm>
          <a:prstGeom prst="rect">
            <a:avLst/>
          </a:prstGeom>
          <a:noFill/>
          <a:ln w="12700" cap="flat" cmpd="sng">
            <a:solidFill>
              <a:srgbClr val="3B6E8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C6/L6 Registro de costos logísticos y cotizador</a:t>
            </a:r>
            <a:endParaRPr sz="12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2" name="Google Shape;422;p10" descr="Bar chart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12477" y="5085931"/>
            <a:ext cx="259553" cy="259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10" descr="Bar chart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12477" y="4130618"/>
            <a:ext cx="259553" cy="259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10" descr="Bar chart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12477" y="4783461"/>
            <a:ext cx="259553" cy="259553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0"/>
          <p:cNvSpPr/>
          <p:nvPr/>
        </p:nvSpPr>
        <p:spPr>
          <a:xfrm>
            <a:off x="2023167" y="5450484"/>
            <a:ext cx="4138867" cy="320040"/>
          </a:xfrm>
          <a:prstGeom prst="rect">
            <a:avLst/>
          </a:prstGeom>
          <a:noFill/>
          <a:ln w="12700" cap="flat" cmpd="sng">
            <a:solidFill>
              <a:srgbClr val="44546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E1 - Gestión documental de la acción logística</a:t>
            </a: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2023167" y="5770524"/>
            <a:ext cx="4138868" cy="320040"/>
          </a:xfrm>
          <a:prstGeom prst="rect">
            <a:avLst/>
          </a:prstGeom>
          <a:noFill/>
          <a:ln w="12700" cap="flat" cmpd="sng">
            <a:solidFill>
              <a:srgbClr val="44546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E2 - Lista de documentos para la acción logística</a:t>
            </a:r>
            <a:endParaRPr/>
          </a:p>
        </p:txBody>
      </p:sp>
      <p:sp>
        <p:nvSpPr>
          <p:cNvPr id="427" name="Google Shape;427;p10"/>
          <p:cNvSpPr/>
          <p:nvPr/>
        </p:nvSpPr>
        <p:spPr>
          <a:xfrm>
            <a:off x="2023167" y="6090563"/>
            <a:ext cx="4138867" cy="320040"/>
          </a:xfrm>
          <a:prstGeom prst="rect">
            <a:avLst/>
          </a:prstGeom>
          <a:noFill/>
          <a:ln w="12700" cap="flat" cmpd="sng">
            <a:solidFill>
              <a:srgbClr val="44546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E3 - Registro de llegadas y salidas de contenedores a puertos</a:t>
            </a:r>
            <a:endParaRPr/>
          </a:p>
        </p:txBody>
      </p:sp>
      <p:pic>
        <p:nvPicPr>
          <p:cNvPr id="428" name="Google Shape;428;p10" descr="Bar chart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12476" y="6119151"/>
            <a:ext cx="259553" cy="259553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0"/>
          <p:cNvSpPr/>
          <p:nvPr/>
        </p:nvSpPr>
        <p:spPr>
          <a:xfrm>
            <a:off x="1108767" y="1461104"/>
            <a:ext cx="914400" cy="1600198"/>
          </a:xfrm>
          <a:prstGeom prst="rect">
            <a:avLst/>
          </a:prstGeom>
          <a:noFill/>
          <a:ln w="1270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>
                <a:solidFill>
                  <a:srgbClr val="009CAD"/>
                </a:solidFill>
                <a:latin typeface="Calibri"/>
                <a:ea typeface="Calibri"/>
                <a:cs typeface="Calibri"/>
                <a:sym typeface="Calibri"/>
              </a:rPr>
              <a:t>Compra y venta de producto y futuros</a:t>
            </a:r>
            <a:endParaRPr/>
          </a:p>
        </p:txBody>
      </p:sp>
      <p:sp>
        <p:nvSpPr>
          <p:cNvPr id="430" name="Google Shape;430;p10"/>
          <p:cNvSpPr/>
          <p:nvPr/>
        </p:nvSpPr>
        <p:spPr>
          <a:xfrm>
            <a:off x="1108767" y="3455487"/>
            <a:ext cx="914400" cy="1600198"/>
          </a:xfrm>
          <a:prstGeom prst="rect">
            <a:avLst/>
          </a:prstGeom>
          <a:noFill/>
          <a:ln w="12700" cap="flat" cmpd="sng">
            <a:solidFill>
              <a:srgbClr val="3B6E8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>
                <a:solidFill>
                  <a:srgbClr val="3B6E8E"/>
                </a:solidFill>
                <a:latin typeface="Calibri"/>
                <a:ea typeface="Calibri"/>
                <a:cs typeface="Calibri"/>
                <a:sym typeface="Calibri"/>
              </a:rPr>
              <a:t>Módulo logístico</a:t>
            </a:r>
            <a:endParaRPr/>
          </a:p>
        </p:txBody>
      </p:sp>
      <p:sp>
        <p:nvSpPr>
          <p:cNvPr id="431" name="Google Shape;431;p10"/>
          <p:cNvSpPr/>
          <p:nvPr/>
        </p:nvSpPr>
        <p:spPr>
          <a:xfrm>
            <a:off x="1108767" y="5450484"/>
            <a:ext cx="914400" cy="640077"/>
          </a:xfrm>
          <a:prstGeom prst="rect">
            <a:avLst/>
          </a:prstGeom>
          <a:noFill/>
          <a:ln w="12700" cap="flat" cmpd="sng">
            <a:solidFill>
              <a:srgbClr val="3B6E8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1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G. Documental</a:t>
            </a:r>
            <a:endParaRPr/>
          </a:p>
        </p:txBody>
      </p:sp>
      <p:sp>
        <p:nvSpPr>
          <p:cNvPr id="432" name="Google Shape;432;p10"/>
          <p:cNvSpPr/>
          <p:nvPr/>
        </p:nvSpPr>
        <p:spPr>
          <a:xfrm>
            <a:off x="1108766" y="3061303"/>
            <a:ext cx="914402" cy="320040"/>
          </a:xfrm>
          <a:prstGeom prst="rect">
            <a:avLst/>
          </a:prstGeom>
          <a:noFill/>
          <a:ln w="1270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1108766" y="5055688"/>
            <a:ext cx="914401" cy="320040"/>
          </a:xfrm>
          <a:prstGeom prst="rect">
            <a:avLst/>
          </a:prstGeom>
          <a:noFill/>
          <a:ln w="12700" cap="flat" cmpd="sng">
            <a:solidFill>
              <a:srgbClr val="3B6E8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194368" y="1103991"/>
            <a:ext cx="5967666" cy="309299"/>
          </a:xfrm>
          <a:prstGeom prst="rect">
            <a:avLst/>
          </a:prstGeom>
          <a:solidFill>
            <a:srgbClr val="D6DCE5"/>
          </a:solidFill>
          <a:ln w="12700" cap="flat" cmpd="sng">
            <a:solidFill>
              <a:srgbClr val="D6DCE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Ola 1</a:t>
            </a:r>
            <a:endParaRPr/>
          </a:p>
        </p:txBody>
      </p:sp>
      <p:sp>
        <p:nvSpPr>
          <p:cNvPr id="435" name="Google Shape;435;p10"/>
          <p:cNvSpPr/>
          <p:nvPr/>
        </p:nvSpPr>
        <p:spPr>
          <a:xfrm>
            <a:off x="1108766" y="6090563"/>
            <a:ext cx="914400" cy="320040"/>
          </a:xfrm>
          <a:prstGeom prst="rect">
            <a:avLst/>
          </a:prstGeom>
          <a:noFill/>
          <a:ln w="12700" cap="flat" cmpd="sng">
            <a:solidFill>
              <a:srgbClr val="3B6E8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Logístico</a:t>
            </a:r>
            <a:endParaRPr/>
          </a:p>
        </p:txBody>
      </p:sp>
      <p:sp>
        <p:nvSpPr>
          <p:cNvPr id="436" name="Google Shape;436;p10"/>
          <p:cNvSpPr/>
          <p:nvPr/>
        </p:nvSpPr>
        <p:spPr>
          <a:xfrm>
            <a:off x="6244292" y="3455488"/>
            <a:ext cx="914400" cy="640080"/>
          </a:xfrm>
          <a:prstGeom prst="rect">
            <a:avLst/>
          </a:prstGeom>
          <a:solidFill>
            <a:srgbClr val="3B6E8E"/>
          </a:solidFill>
          <a:ln w="12700" cap="flat" cmpd="sng">
            <a:solidFill>
              <a:srgbClr val="3B6E8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Logística</a:t>
            </a:r>
            <a:endParaRPr/>
          </a:p>
        </p:txBody>
      </p:sp>
      <p:sp>
        <p:nvSpPr>
          <p:cNvPr id="437" name="Google Shape;437;p10"/>
          <p:cNvSpPr/>
          <p:nvPr/>
        </p:nvSpPr>
        <p:spPr>
          <a:xfrm>
            <a:off x="6244292" y="4175336"/>
            <a:ext cx="914400" cy="2235267"/>
          </a:xfrm>
          <a:prstGeom prst="rect">
            <a:avLst/>
          </a:prstGeom>
          <a:solidFill>
            <a:schemeClr val="dk2"/>
          </a:solidFill>
          <a:ln w="12700" cap="flat" cmpd="sng">
            <a:solidFill>
              <a:srgbClr val="44546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Ejecuciones</a:t>
            </a:r>
            <a:endParaRPr/>
          </a:p>
        </p:txBody>
      </p:sp>
      <p:sp>
        <p:nvSpPr>
          <p:cNvPr id="438" name="Google Shape;438;p10"/>
          <p:cNvSpPr/>
          <p:nvPr/>
        </p:nvSpPr>
        <p:spPr>
          <a:xfrm>
            <a:off x="6244293" y="1461103"/>
            <a:ext cx="914400" cy="1920234"/>
          </a:xfrm>
          <a:prstGeom prst="rect">
            <a:avLst/>
          </a:prstGeom>
          <a:solidFill>
            <a:srgbClr val="009CAD"/>
          </a:solidFill>
          <a:ln w="1270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Comercial</a:t>
            </a:r>
            <a:endParaRPr/>
          </a:p>
        </p:txBody>
      </p:sp>
      <p:sp>
        <p:nvSpPr>
          <p:cNvPr id="439" name="Google Shape;439;p10"/>
          <p:cNvSpPr/>
          <p:nvPr/>
        </p:nvSpPr>
        <p:spPr>
          <a:xfrm>
            <a:off x="8073093" y="1461103"/>
            <a:ext cx="3889308" cy="1920240"/>
          </a:xfrm>
          <a:prstGeom prst="rect">
            <a:avLst/>
          </a:prstGeom>
          <a:noFill/>
          <a:ln w="1270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C7 Registro análisis de mercado (chicago &amp; Basis)</a:t>
            </a:r>
            <a:endParaRPr/>
          </a:p>
        </p:txBody>
      </p:sp>
      <p:sp>
        <p:nvSpPr>
          <p:cNvPr id="440" name="Google Shape;440;p10"/>
          <p:cNvSpPr/>
          <p:nvPr/>
        </p:nvSpPr>
        <p:spPr>
          <a:xfrm>
            <a:off x="8073093" y="3455488"/>
            <a:ext cx="3889308" cy="320040"/>
          </a:xfrm>
          <a:prstGeom prst="rect">
            <a:avLst/>
          </a:prstGeom>
          <a:noFill/>
          <a:ln w="12700" cap="flat" cmpd="sng">
            <a:solidFill>
              <a:srgbClr val="3B6E8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L7 Automatización del envío del shipment schedule por correo</a:t>
            </a:r>
            <a:endParaRPr/>
          </a:p>
        </p:txBody>
      </p:sp>
      <p:sp>
        <p:nvSpPr>
          <p:cNvPr id="441" name="Google Shape;441;p10"/>
          <p:cNvSpPr/>
          <p:nvPr/>
        </p:nvSpPr>
        <p:spPr>
          <a:xfrm>
            <a:off x="8073093" y="3775528"/>
            <a:ext cx="3889308" cy="320040"/>
          </a:xfrm>
          <a:prstGeom prst="rect">
            <a:avLst/>
          </a:prstGeom>
          <a:noFill/>
          <a:ln w="12700" cap="flat" cmpd="sng">
            <a:solidFill>
              <a:srgbClr val="3B6E8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L8 Gestión de insumos para las acciones logísticas</a:t>
            </a:r>
            <a:endParaRPr/>
          </a:p>
        </p:txBody>
      </p:sp>
      <p:sp>
        <p:nvSpPr>
          <p:cNvPr id="442" name="Google Shape;442;p10"/>
          <p:cNvSpPr/>
          <p:nvPr/>
        </p:nvSpPr>
        <p:spPr>
          <a:xfrm>
            <a:off x="8073093" y="5450484"/>
            <a:ext cx="3889308" cy="320040"/>
          </a:xfrm>
          <a:prstGeom prst="rect">
            <a:avLst/>
          </a:prstGeom>
          <a:noFill/>
          <a:ln w="12700" cap="flat" cmpd="sng">
            <a:solidFill>
              <a:srgbClr val="44546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E12 Plantillas de generación de documentos (issue by seller documents) </a:t>
            </a:r>
            <a:endParaRPr/>
          </a:p>
        </p:txBody>
      </p:sp>
      <p:sp>
        <p:nvSpPr>
          <p:cNvPr id="443" name="Google Shape;443;p10"/>
          <p:cNvSpPr/>
          <p:nvPr/>
        </p:nvSpPr>
        <p:spPr>
          <a:xfrm>
            <a:off x="8073092" y="5770524"/>
            <a:ext cx="3889309" cy="320040"/>
          </a:xfrm>
          <a:prstGeom prst="rect">
            <a:avLst/>
          </a:prstGeom>
          <a:noFill/>
          <a:ln w="12700" cap="flat" cmpd="sng">
            <a:solidFill>
              <a:srgbClr val="44546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E15 Control de tiempos de los documentos generados</a:t>
            </a:r>
            <a:endParaRPr/>
          </a:p>
        </p:txBody>
      </p:sp>
      <p:sp>
        <p:nvSpPr>
          <p:cNvPr id="444" name="Google Shape;444;p10"/>
          <p:cNvSpPr/>
          <p:nvPr/>
        </p:nvSpPr>
        <p:spPr>
          <a:xfrm>
            <a:off x="8073093" y="6090563"/>
            <a:ext cx="3889308" cy="320040"/>
          </a:xfrm>
          <a:prstGeom prst="rect">
            <a:avLst/>
          </a:prstGeom>
          <a:noFill/>
          <a:ln w="12700" cap="flat" cmpd="sng">
            <a:solidFill>
              <a:srgbClr val="44546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E13 E-amil automatico del shipment appropriation</a:t>
            </a:r>
            <a:endParaRPr sz="12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7158692" y="1461104"/>
            <a:ext cx="914400" cy="1920234"/>
          </a:xfrm>
          <a:prstGeom prst="rect">
            <a:avLst/>
          </a:prstGeom>
          <a:noFill/>
          <a:ln w="1270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>
                <a:solidFill>
                  <a:srgbClr val="009CAD"/>
                </a:solidFill>
                <a:latin typeface="Calibri"/>
                <a:ea typeface="Calibri"/>
                <a:cs typeface="Calibri"/>
                <a:sym typeface="Calibri"/>
              </a:rPr>
              <a:t>Análisis de mercado</a:t>
            </a:r>
            <a:endParaRPr/>
          </a:p>
        </p:txBody>
      </p:sp>
      <p:sp>
        <p:nvSpPr>
          <p:cNvPr id="446" name="Google Shape;446;p10"/>
          <p:cNvSpPr/>
          <p:nvPr/>
        </p:nvSpPr>
        <p:spPr>
          <a:xfrm>
            <a:off x="7158692" y="3455487"/>
            <a:ext cx="914400" cy="640081"/>
          </a:xfrm>
          <a:prstGeom prst="rect">
            <a:avLst/>
          </a:prstGeom>
          <a:noFill/>
          <a:ln w="12700" cap="flat" cmpd="sng">
            <a:solidFill>
              <a:srgbClr val="3B6E8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1" u="none" strike="noStrike">
              <a:solidFill>
                <a:srgbClr val="3B6E8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7158692" y="4175336"/>
            <a:ext cx="914400" cy="645091"/>
          </a:xfrm>
          <a:prstGeom prst="rect">
            <a:avLst/>
          </a:prstGeom>
          <a:noFill/>
          <a:ln w="12700" cap="flat" cmpd="sng">
            <a:solidFill>
              <a:srgbClr val="61616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1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G. Contratos</a:t>
            </a:r>
            <a:endParaRPr/>
          </a:p>
        </p:txBody>
      </p:sp>
      <p:sp>
        <p:nvSpPr>
          <p:cNvPr id="448" name="Google Shape;448;p10"/>
          <p:cNvSpPr/>
          <p:nvPr/>
        </p:nvSpPr>
        <p:spPr>
          <a:xfrm>
            <a:off x="6244293" y="1103991"/>
            <a:ext cx="5718108" cy="309299"/>
          </a:xfrm>
          <a:prstGeom prst="rect">
            <a:avLst/>
          </a:prstGeom>
          <a:solidFill>
            <a:srgbClr val="D6DCE5"/>
          </a:solidFill>
          <a:ln w="12700" cap="flat" cmpd="sng">
            <a:solidFill>
              <a:srgbClr val="D6DCE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Ola 2</a:t>
            </a:r>
            <a:endParaRPr/>
          </a:p>
        </p:txBody>
      </p:sp>
      <p:sp>
        <p:nvSpPr>
          <p:cNvPr id="449" name="Google Shape;449;p10"/>
          <p:cNvSpPr/>
          <p:nvPr/>
        </p:nvSpPr>
        <p:spPr>
          <a:xfrm>
            <a:off x="7158691" y="6089950"/>
            <a:ext cx="914400" cy="320653"/>
          </a:xfrm>
          <a:prstGeom prst="rect">
            <a:avLst/>
          </a:prstGeom>
          <a:noFill/>
          <a:ln w="12700" cap="flat" cmpd="sng">
            <a:solidFill>
              <a:srgbClr val="61616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/>
          <p:nvPr/>
        </p:nvSpPr>
        <p:spPr>
          <a:xfrm>
            <a:off x="8073093" y="4495377"/>
            <a:ext cx="3889308" cy="320040"/>
          </a:xfrm>
          <a:prstGeom prst="rect">
            <a:avLst/>
          </a:prstGeom>
          <a:noFill/>
          <a:ln w="12700" cap="flat" cmpd="sng">
            <a:solidFill>
              <a:srgbClr val="44546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E7 Alerta de firma pendiente en contrato</a:t>
            </a:r>
            <a:endParaRPr/>
          </a:p>
        </p:txBody>
      </p:sp>
      <p:sp>
        <p:nvSpPr>
          <p:cNvPr id="451" name="Google Shape;451;p10"/>
          <p:cNvSpPr/>
          <p:nvPr/>
        </p:nvSpPr>
        <p:spPr>
          <a:xfrm>
            <a:off x="8073092" y="4815417"/>
            <a:ext cx="3889309" cy="320040"/>
          </a:xfrm>
          <a:prstGeom prst="rect">
            <a:avLst/>
          </a:prstGeom>
          <a:noFill/>
          <a:ln w="12700" cap="flat" cmpd="sng">
            <a:solidFill>
              <a:srgbClr val="44546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E10 Gestión de inventario de precintos de aduana</a:t>
            </a:r>
            <a:endParaRPr/>
          </a:p>
        </p:txBody>
      </p:sp>
      <p:sp>
        <p:nvSpPr>
          <p:cNvPr id="452" name="Google Shape;452;p10"/>
          <p:cNvSpPr/>
          <p:nvPr/>
        </p:nvSpPr>
        <p:spPr>
          <a:xfrm>
            <a:off x="8073093" y="5135456"/>
            <a:ext cx="3889308" cy="320040"/>
          </a:xfrm>
          <a:prstGeom prst="rect">
            <a:avLst/>
          </a:prstGeom>
          <a:noFill/>
          <a:ln w="12700" cap="flat" cmpd="sng">
            <a:solidFill>
              <a:srgbClr val="44546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E11 Validación automática de precintos contra reporte surveyor</a:t>
            </a:r>
            <a:endParaRPr/>
          </a:p>
        </p:txBody>
      </p:sp>
      <p:sp>
        <p:nvSpPr>
          <p:cNvPr id="453" name="Google Shape;453;p10"/>
          <p:cNvSpPr/>
          <p:nvPr/>
        </p:nvSpPr>
        <p:spPr>
          <a:xfrm>
            <a:off x="8073093" y="4175336"/>
            <a:ext cx="3889308" cy="320040"/>
          </a:xfrm>
          <a:prstGeom prst="rect">
            <a:avLst/>
          </a:prstGeom>
          <a:noFill/>
          <a:ln w="12700" cap="flat" cmpd="sng">
            <a:solidFill>
              <a:srgbClr val="44546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E6 Envío automático de contrato al cliente</a:t>
            </a:r>
            <a:endParaRPr/>
          </a:p>
        </p:txBody>
      </p:sp>
      <p:sp>
        <p:nvSpPr>
          <p:cNvPr id="454" name="Google Shape;454;p10"/>
          <p:cNvSpPr/>
          <p:nvPr/>
        </p:nvSpPr>
        <p:spPr>
          <a:xfrm>
            <a:off x="7158692" y="4815415"/>
            <a:ext cx="914400" cy="634457"/>
          </a:xfrm>
          <a:prstGeom prst="rect">
            <a:avLst/>
          </a:prstGeom>
          <a:noFill/>
          <a:ln w="12700" cap="flat" cmpd="sng">
            <a:solidFill>
              <a:srgbClr val="61616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1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Precintos de aduana</a:t>
            </a:r>
            <a:endParaRPr/>
          </a:p>
        </p:txBody>
      </p:sp>
      <p:sp>
        <p:nvSpPr>
          <p:cNvPr id="455" name="Google Shape;455;p10"/>
          <p:cNvSpPr/>
          <p:nvPr/>
        </p:nvSpPr>
        <p:spPr>
          <a:xfrm>
            <a:off x="7158691" y="5450482"/>
            <a:ext cx="914400" cy="63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G. Documental</a:t>
            </a:r>
            <a:endParaRPr/>
          </a:p>
        </p:txBody>
      </p:sp>
      <p:pic>
        <p:nvPicPr>
          <p:cNvPr id="456" name="Google Shape;456;p10" descr="Bar chart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711297" y="4852011"/>
            <a:ext cx="259553" cy="259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10" descr="Bar chart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711297" y="3832049"/>
            <a:ext cx="259553" cy="259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10" descr="Bar chart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711297" y="5806492"/>
            <a:ext cx="259553" cy="259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0" descr="Bar chart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711297" y="2279610"/>
            <a:ext cx="259553" cy="259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98611" y="6459458"/>
            <a:ext cx="1018748" cy="342221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0"/>
          <p:cNvSpPr txBox="1"/>
          <p:nvPr/>
        </p:nvSpPr>
        <p:spPr>
          <a:xfrm>
            <a:off x="9448800" y="6483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" name="Google Shape;467;p11"/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468" name="Google Shape;468;p11"/>
            <p:cNvSpPr/>
            <p:nvPr/>
          </p:nvSpPr>
          <p:spPr>
            <a:xfrm>
              <a:off x="-1" y="0"/>
              <a:ext cx="66896" cy="6858000"/>
            </a:xfrm>
            <a:prstGeom prst="rect">
              <a:avLst/>
            </a:prstGeom>
            <a:solidFill>
              <a:srgbClr val="3B6E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11"/>
            <p:cNvSpPr txBox="1"/>
            <p:nvPr/>
          </p:nvSpPr>
          <p:spPr>
            <a:xfrm>
              <a:off x="66895" y="-1"/>
              <a:ext cx="12125105" cy="517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rgbClr val="3B6E8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      Requirements (4)</a:t>
              </a:r>
              <a:endParaRPr sz="2400" b="1" dirty="0">
                <a:solidFill>
                  <a:srgbClr val="3B6E8F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470" name="Google Shape;470;p11"/>
            <p:cNvCxnSpPr/>
            <p:nvPr/>
          </p:nvCxnSpPr>
          <p:spPr>
            <a:xfrm rot="10800000" flipH="1">
              <a:off x="65667" y="510139"/>
              <a:ext cx="12126333" cy="21566"/>
            </a:xfrm>
            <a:prstGeom prst="straightConnector1">
              <a:avLst/>
            </a:prstGeom>
            <a:noFill/>
            <a:ln w="9525" cap="flat" cmpd="sng">
              <a:solidFill>
                <a:srgbClr val="3B6E8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471" name="Google Shape;471;p11"/>
          <p:cNvSpPr txBox="1"/>
          <p:nvPr/>
        </p:nvSpPr>
        <p:spPr>
          <a:xfrm>
            <a:off x="151554" y="729336"/>
            <a:ext cx="1184108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continuación, los requerimientos de la ola 3:</a:t>
            </a:r>
            <a:endParaRPr/>
          </a:p>
        </p:txBody>
      </p:sp>
      <p:sp>
        <p:nvSpPr>
          <p:cNvPr id="472" name="Google Shape;472;p11"/>
          <p:cNvSpPr/>
          <p:nvPr/>
        </p:nvSpPr>
        <p:spPr>
          <a:xfrm>
            <a:off x="194367" y="1103991"/>
            <a:ext cx="11910561" cy="309299"/>
          </a:xfrm>
          <a:prstGeom prst="rect">
            <a:avLst/>
          </a:prstGeom>
          <a:solidFill>
            <a:srgbClr val="D6DCE5"/>
          </a:solidFill>
          <a:ln w="12700" cap="flat" cmpd="sng">
            <a:solidFill>
              <a:srgbClr val="D6DCE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Ola 3</a:t>
            </a:r>
            <a:endParaRPr/>
          </a:p>
        </p:txBody>
      </p:sp>
      <p:sp>
        <p:nvSpPr>
          <p:cNvPr id="473" name="Google Shape;473;p11"/>
          <p:cNvSpPr/>
          <p:nvPr/>
        </p:nvSpPr>
        <p:spPr>
          <a:xfrm>
            <a:off x="5982748" y="1524922"/>
            <a:ext cx="1026692" cy="4480560"/>
          </a:xfrm>
          <a:prstGeom prst="rect">
            <a:avLst/>
          </a:prstGeom>
          <a:solidFill>
            <a:srgbClr val="5C628F"/>
          </a:solidFill>
          <a:ln w="1270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Contabilidad y finanzas</a:t>
            </a:r>
            <a:endParaRPr/>
          </a:p>
        </p:txBody>
      </p:sp>
      <p:sp>
        <p:nvSpPr>
          <p:cNvPr id="474" name="Google Shape;474;p11"/>
          <p:cNvSpPr/>
          <p:nvPr/>
        </p:nvSpPr>
        <p:spPr>
          <a:xfrm>
            <a:off x="7009441" y="1524923"/>
            <a:ext cx="909401" cy="320039"/>
          </a:xfrm>
          <a:prstGeom prst="rect">
            <a:avLst/>
          </a:prstGeom>
          <a:noFill/>
          <a:ln w="1270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1" u="none" strike="noStrike">
              <a:solidFill>
                <a:srgbClr val="5C62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1"/>
          <p:cNvSpPr/>
          <p:nvPr/>
        </p:nvSpPr>
        <p:spPr>
          <a:xfrm>
            <a:off x="194367" y="1528881"/>
            <a:ext cx="914400" cy="320038"/>
          </a:xfrm>
          <a:prstGeom prst="rect">
            <a:avLst/>
          </a:prstGeom>
          <a:solidFill>
            <a:srgbClr val="3B6E8E"/>
          </a:solidFill>
          <a:ln w="12700" cap="flat" cmpd="sng">
            <a:solidFill>
              <a:srgbClr val="3B6E8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Logística</a:t>
            </a:r>
            <a:endParaRPr/>
          </a:p>
        </p:txBody>
      </p:sp>
      <p:sp>
        <p:nvSpPr>
          <p:cNvPr id="476" name="Google Shape;476;p11"/>
          <p:cNvSpPr/>
          <p:nvPr/>
        </p:nvSpPr>
        <p:spPr>
          <a:xfrm>
            <a:off x="194367" y="1910609"/>
            <a:ext cx="914400" cy="1603607"/>
          </a:xfrm>
          <a:prstGeom prst="rect">
            <a:avLst/>
          </a:prstGeom>
          <a:solidFill>
            <a:schemeClr val="dk2"/>
          </a:solidFill>
          <a:ln w="12700" cap="flat" cmpd="sng">
            <a:solidFill>
              <a:srgbClr val="44546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Ejecuciones</a:t>
            </a:r>
            <a:endParaRPr/>
          </a:p>
        </p:txBody>
      </p:sp>
      <p:sp>
        <p:nvSpPr>
          <p:cNvPr id="477" name="Google Shape;477;p11"/>
          <p:cNvSpPr/>
          <p:nvPr/>
        </p:nvSpPr>
        <p:spPr>
          <a:xfrm>
            <a:off x="2023168" y="1528881"/>
            <a:ext cx="3889308" cy="320040"/>
          </a:xfrm>
          <a:prstGeom prst="rect">
            <a:avLst/>
          </a:prstGeom>
          <a:noFill/>
          <a:ln w="12700" cap="flat" cmpd="sng">
            <a:solidFill>
              <a:srgbClr val="3B6E8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L9 Notificación a contabilidad para pago a proveedores</a:t>
            </a:r>
            <a:endParaRPr sz="12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1"/>
          <p:cNvSpPr/>
          <p:nvPr/>
        </p:nvSpPr>
        <p:spPr>
          <a:xfrm>
            <a:off x="1108767" y="1528880"/>
            <a:ext cx="914400" cy="320039"/>
          </a:xfrm>
          <a:prstGeom prst="rect">
            <a:avLst/>
          </a:prstGeom>
          <a:noFill/>
          <a:ln w="12700" cap="flat" cmpd="sng">
            <a:solidFill>
              <a:srgbClr val="3B6E8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i="1">
                <a:solidFill>
                  <a:srgbClr val="3B6E8E"/>
                </a:solidFill>
                <a:latin typeface="Calibri"/>
                <a:ea typeface="Calibri"/>
                <a:cs typeface="Calibri"/>
                <a:sym typeface="Calibri"/>
              </a:rPr>
              <a:t>Pago a proveedores</a:t>
            </a:r>
            <a:endParaRPr/>
          </a:p>
        </p:txBody>
      </p:sp>
      <p:sp>
        <p:nvSpPr>
          <p:cNvPr id="479" name="Google Shape;479;p11"/>
          <p:cNvSpPr/>
          <p:nvPr/>
        </p:nvSpPr>
        <p:spPr>
          <a:xfrm>
            <a:off x="2023167" y="1910611"/>
            <a:ext cx="3889309" cy="320040"/>
          </a:xfrm>
          <a:prstGeom prst="rect">
            <a:avLst/>
          </a:prstGeom>
          <a:noFill/>
          <a:ln w="12700" cap="flat" cmpd="sng">
            <a:solidFill>
              <a:srgbClr val="44546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E4 Cobranzas - Reporte del estado de las facturas / pago de clientes</a:t>
            </a:r>
            <a:endParaRPr/>
          </a:p>
        </p:txBody>
      </p:sp>
      <p:sp>
        <p:nvSpPr>
          <p:cNvPr id="480" name="Google Shape;480;p11"/>
          <p:cNvSpPr/>
          <p:nvPr/>
        </p:nvSpPr>
        <p:spPr>
          <a:xfrm>
            <a:off x="2023168" y="2230650"/>
            <a:ext cx="3889308" cy="320040"/>
          </a:xfrm>
          <a:prstGeom prst="rect">
            <a:avLst/>
          </a:prstGeom>
          <a:noFill/>
          <a:ln w="12700" cap="flat" cmpd="sng">
            <a:solidFill>
              <a:srgbClr val="44546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E5 Cobranzas - E-mail automático del estado de cuenta del cliente</a:t>
            </a:r>
            <a:endParaRPr/>
          </a:p>
        </p:txBody>
      </p:sp>
      <p:sp>
        <p:nvSpPr>
          <p:cNvPr id="481" name="Google Shape;481;p11"/>
          <p:cNvSpPr/>
          <p:nvPr/>
        </p:nvSpPr>
        <p:spPr>
          <a:xfrm>
            <a:off x="1108767" y="1910609"/>
            <a:ext cx="914400" cy="640077"/>
          </a:xfrm>
          <a:prstGeom prst="rect">
            <a:avLst/>
          </a:prstGeom>
          <a:noFill/>
          <a:ln w="12700" cap="flat" cmpd="sng">
            <a:solidFill>
              <a:srgbClr val="3B6E8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1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Cobranzas</a:t>
            </a:r>
            <a:endParaRPr/>
          </a:p>
        </p:txBody>
      </p:sp>
      <p:sp>
        <p:nvSpPr>
          <p:cNvPr id="482" name="Google Shape;482;p11"/>
          <p:cNvSpPr/>
          <p:nvPr/>
        </p:nvSpPr>
        <p:spPr>
          <a:xfrm>
            <a:off x="1108766" y="2550191"/>
            <a:ext cx="914400" cy="637652"/>
          </a:xfrm>
          <a:prstGeom prst="rect">
            <a:avLst/>
          </a:prstGeom>
          <a:noFill/>
          <a:ln w="12700" cap="flat" cmpd="sng">
            <a:solidFill>
              <a:srgbClr val="44546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Facturación</a:t>
            </a:r>
            <a:endParaRPr/>
          </a:p>
        </p:txBody>
      </p:sp>
      <p:sp>
        <p:nvSpPr>
          <p:cNvPr id="483" name="Google Shape;483;p11"/>
          <p:cNvSpPr/>
          <p:nvPr/>
        </p:nvSpPr>
        <p:spPr>
          <a:xfrm>
            <a:off x="2023168" y="2548602"/>
            <a:ext cx="3889308" cy="320040"/>
          </a:xfrm>
          <a:prstGeom prst="rect">
            <a:avLst/>
          </a:prstGeom>
          <a:noFill/>
          <a:ln w="12700" cap="flat" cmpd="sng">
            <a:solidFill>
              <a:srgbClr val="44546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E8 Sistema facturación</a:t>
            </a:r>
            <a:endParaRPr/>
          </a:p>
        </p:txBody>
      </p:sp>
      <p:sp>
        <p:nvSpPr>
          <p:cNvPr id="484" name="Google Shape;484;p11"/>
          <p:cNvSpPr/>
          <p:nvPr/>
        </p:nvSpPr>
        <p:spPr>
          <a:xfrm>
            <a:off x="7918843" y="1524922"/>
            <a:ext cx="4186086" cy="320040"/>
          </a:xfrm>
          <a:prstGeom prst="rect">
            <a:avLst/>
          </a:prstGeom>
          <a:noFill/>
          <a:ln w="1270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F1 Registro y visualización de cotizaciones vs costos logísticos </a:t>
            </a:r>
            <a:endParaRPr/>
          </a:p>
        </p:txBody>
      </p:sp>
      <p:sp>
        <p:nvSpPr>
          <p:cNvPr id="485" name="Google Shape;485;p11"/>
          <p:cNvSpPr/>
          <p:nvPr/>
        </p:nvSpPr>
        <p:spPr>
          <a:xfrm>
            <a:off x="7918843" y="1844962"/>
            <a:ext cx="4186086" cy="320040"/>
          </a:xfrm>
          <a:prstGeom prst="rect">
            <a:avLst/>
          </a:prstGeom>
          <a:noFill/>
          <a:ln w="1270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F2 Control y seguimiento al pago de proveedores</a:t>
            </a:r>
            <a:endParaRPr sz="12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1"/>
          <p:cNvSpPr/>
          <p:nvPr/>
        </p:nvSpPr>
        <p:spPr>
          <a:xfrm>
            <a:off x="7918843" y="2165002"/>
            <a:ext cx="4186086" cy="320040"/>
          </a:xfrm>
          <a:prstGeom prst="rect">
            <a:avLst/>
          </a:prstGeom>
          <a:noFill/>
          <a:ln w="1270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F3 Programación de pagos a proveedores y gestionar la aprobación de gerencia</a:t>
            </a:r>
            <a:endParaRPr sz="12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1"/>
          <p:cNvSpPr/>
          <p:nvPr/>
        </p:nvSpPr>
        <p:spPr>
          <a:xfrm>
            <a:off x="7918843" y="2485042"/>
            <a:ext cx="4186086" cy="320040"/>
          </a:xfrm>
          <a:prstGeom prst="rect">
            <a:avLst/>
          </a:prstGeom>
          <a:noFill/>
          <a:ln w="1270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F4 Envío de correo automático de lo abonado a los proveedores cuando se realiza un pago</a:t>
            </a:r>
            <a:endParaRPr/>
          </a:p>
        </p:txBody>
      </p:sp>
      <p:sp>
        <p:nvSpPr>
          <p:cNvPr id="488" name="Google Shape;488;p11"/>
          <p:cNvSpPr/>
          <p:nvPr/>
        </p:nvSpPr>
        <p:spPr>
          <a:xfrm>
            <a:off x="7918843" y="2805082"/>
            <a:ext cx="4186086" cy="320040"/>
          </a:xfrm>
          <a:prstGeom prst="rect">
            <a:avLst/>
          </a:prstGeom>
          <a:noFill/>
          <a:ln w="1270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F5 Generación balance y P&amp;G de cada compañía</a:t>
            </a:r>
            <a:endParaRPr sz="12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1"/>
          <p:cNvSpPr/>
          <p:nvPr/>
        </p:nvSpPr>
        <p:spPr>
          <a:xfrm>
            <a:off x="7918843" y="3125122"/>
            <a:ext cx="4186086" cy="320040"/>
          </a:xfrm>
          <a:prstGeom prst="rect">
            <a:avLst/>
          </a:prstGeom>
          <a:noFill/>
          <a:ln w="1270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F11 Generación Balance y P&amp;G consolidado</a:t>
            </a:r>
            <a:endParaRPr sz="12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1"/>
          <p:cNvSpPr/>
          <p:nvPr/>
        </p:nvSpPr>
        <p:spPr>
          <a:xfrm>
            <a:off x="7918843" y="3445162"/>
            <a:ext cx="4186086" cy="320040"/>
          </a:xfrm>
          <a:prstGeom prst="rect">
            <a:avLst/>
          </a:prstGeom>
          <a:noFill/>
          <a:ln w="1270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F6 Generación reportes impositivos: IVA, comprobantes mensuales RG90, Ret.IVA, Ret renta, EEFF RG49, </a:t>
            </a:r>
            <a:endParaRPr/>
          </a:p>
        </p:txBody>
      </p:sp>
      <p:sp>
        <p:nvSpPr>
          <p:cNvPr id="491" name="Google Shape;491;p11"/>
          <p:cNvSpPr/>
          <p:nvPr/>
        </p:nvSpPr>
        <p:spPr>
          <a:xfrm>
            <a:off x="7918843" y="3765202"/>
            <a:ext cx="4186086" cy="320040"/>
          </a:xfrm>
          <a:prstGeom prst="rect">
            <a:avLst/>
          </a:prstGeom>
          <a:noFill/>
          <a:ln w="1270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F7 Reportes internos: </a:t>
            </a:r>
            <a:r>
              <a:rPr lang="en-US" sz="1050" b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CxC, Cxp, Entrega de mercaderías pendientes de facturación, Notas de créditos pendientes de proveedores</a:t>
            </a:r>
            <a:endParaRPr sz="12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1"/>
          <p:cNvSpPr/>
          <p:nvPr/>
        </p:nvSpPr>
        <p:spPr>
          <a:xfrm>
            <a:off x="7918843" y="4085242"/>
            <a:ext cx="4186086" cy="320040"/>
          </a:xfrm>
          <a:prstGeom prst="rect">
            <a:avLst/>
          </a:prstGeom>
          <a:noFill/>
          <a:ln w="1270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F8 Gestión del cash-flow de cada compañía y consolidado</a:t>
            </a:r>
            <a:endParaRPr/>
          </a:p>
        </p:txBody>
      </p:sp>
      <p:sp>
        <p:nvSpPr>
          <p:cNvPr id="493" name="Google Shape;493;p11"/>
          <p:cNvSpPr/>
          <p:nvPr/>
        </p:nvSpPr>
        <p:spPr>
          <a:xfrm>
            <a:off x="7918843" y="4405282"/>
            <a:ext cx="4186086" cy="320040"/>
          </a:xfrm>
          <a:prstGeom prst="rect">
            <a:avLst/>
          </a:prstGeom>
          <a:noFill/>
          <a:ln w="1270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F15 Reporte mark to market</a:t>
            </a:r>
            <a:endParaRPr sz="12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1"/>
          <p:cNvSpPr/>
          <p:nvPr/>
        </p:nvSpPr>
        <p:spPr>
          <a:xfrm>
            <a:off x="7918843" y="4725322"/>
            <a:ext cx="4186086" cy="320040"/>
          </a:xfrm>
          <a:prstGeom prst="rect">
            <a:avLst/>
          </a:prstGeom>
          <a:noFill/>
          <a:ln w="1270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F10 Sistema de facturación</a:t>
            </a:r>
            <a:endParaRPr sz="12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1"/>
          <p:cNvSpPr/>
          <p:nvPr/>
        </p:nvSpPr>
        <p:spPr>
          <a:xfrm>
            <a:off x="7918843" y="5045362"/>
            <a:ext cx="4186086" cy="320040"/>
          </a:xfrm>
          <a:prstGeom prst="rect">
            <a:avLst/>
          </a:prstGeom>
          <a:noFill/>
          <a:ln w="1270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F12 Gestión de inventario</a:t>
            </a:r>
            <a:endParaRPr sz="12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p11" descr="Bar chart outlin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87734" y="2008414"/>
            <a:ext cx="224742" cy="224742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11"/>
          <p:cNvSpPr/>
          <p:nvPr/>
        </p:nvSpPr>
        <p:spPr>
          <a:xfrm>
            <a:off x="7918843" y="5365402"/>
            <a:ext cx="4186086" cy="320040"/>
          </a:xfrm>
          <a:prstGeom prst="rect">
            <a:avLst/>
          </a:prstGeom>
          <a:noFill/>
          <a:ln w="1270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F13 Gestión de costos e inventarios contra contabilidad</a:t>
            </a:r>
            <a:endParaRPr sz="12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1"/>
          <p:cNvSpPr/>
          <p:nvPr/>
        </p:nvSpPr>
        <p:spPr>
          <a:xfrm>
            <a:off x="7918843" y="5685442"/>
            <a:ext cx="4186086" cy="320040"/>
          </a:xfrm>
          <a:prstGeom prst="rect">
            <a:avLst/>
          </a:prstGeom>
          <a:noFill/>
          <a:ln w="1270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F14 Sistema multi-moneda</a:t>
            </a:r>
            <a:endParaRPr sz="12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1"/>
          <p:cNvSpPr/>
          <p:nvPr/>
        </p:nvSpPr>
        <p:spPr>
          <a:xfrm>
            <a:off x="7009441" y="1844961"/>
            <a:ext cx="909401" cy="960120"/>
          </a:xfrm>
          <a:prstGeom prst="rect">
            <a:avLst/>
          </a:prstGeom>
          <a:noFill/>
          <a:ln w="1270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>
                <a:solidFill>
                  <a:srgbClr val="5C628F"/>
                </a:solidFill>
                <a:latin typeface="Calibri"/>
                <a:ea typeface="Calibri"/>
                <a:cs typeface="Calibri"/>
                <a:sym typeface="Calibri"/>
              </a:rPr>
              <a:t>Pago a proveedores</a:t>
            </a:r>
            <a:endParaRPr/>
          </a:p>
        </p:txBody>
      </p:sp>
      <p:sp>
        <p:nvSpPr>
          <p:cNvPr id="500" name="Google Shape;500;p11"/>
          <p:cNvSpPr/>
          <p:nvPr/>
        </p:nvSpPr>
        <p:spPr>
          <a:xfrm>
            <a:off x="7009441" y="2805081"/>
            <a:ext cx="909401" cy="1920240"/>
          </a:xfrm>
          <a:prstGeom prst="rect">
            <a:avLst/>
          </a:prstGeom>
          <a:noFill/>
          <a:ln w="1270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>
                <a:solidFill>
                  <a:srgbClr val="5C628F"/>
                </a:solidFill>
                <a:latin typeface="Calibri"/>
                <a:ea typeface="Calibri"/>
                <a:cs typeface="Calibri"/>
                <a:sym typeface="Calibri"/>
              </a:rPr>
              <a:t>Reportes contables y financieros</a:t>
            </a:r>
            <a:endParaRPr/>
          </a:p>
        </p:txBody>
      </p:sp>
      <p:sp>
        <p:nvSpPr>
          <p:cNvPr id="501" name="Google Shape;501;p11"/>
          <p:cNvSpPr/>
          <p:nvPr/>
        </p:nvSpPr>
        <p:spPr>
          <a:xfrm>
            <a:off x="7009441" y="4725321"/>
            <a:ext cx="909401" cy="320039"/>
          </a:xfrm>
          <a:prstGeom prst="rect">
            <a:avLst/>
          </a:prstGeom>
          <a:noFill/>
          <a:ln w="1270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1" u="none" strike="noStrike">
              <a:solidFill>
                <a:srgbClr val="5C62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1"/>
          <p:cNvSpPr/>
          <p:nvPr/>
        </p:nvSpPr>
        <p:spPr>
          <a:xfrm>
            <a:off x="7009441" y="5045361"/>
            <a:ext cx="909401" cy="320039"/>
          </a:xfrm>
          <a:prstGeom prst="rect">
            <a:avLst/>
          </a:prstGeom>
          <a:noFill/>
          <a:ln w="1270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1" u="none" strike="noStrike">
              <a:solidFill>
                <a:srgbClr val="5C62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1"/>
          <p:cNvSpPr/>
          <p:nvPr/>
        </p:nvSpPr>
        <p:spPr>
          <a:xfrm>
            <a:off x="7009441" y="5365401"/>
            <a:ext cx="909401" cy="320039"/>
          </a:xfrm>
          <a:prstGeom prst="rect">
            <a:avLst/>
          </a:prstGeom>
          <a:noFill/>
          <a:ln w="1270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1" u="none" strike="noStrike">
              <a:solidFill>
                <a:srgbClr val="5C62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1"/>
          <p:cNvSpPr/>
          <p:nvPr/>
        </p:nvSpPr>
        <p:spPr>
          <a:xfrm>
            <a:off x="7009441" y="5685439"/>
            <a:ext cx="909401" cy="320039"/>
          </a:xfrm>
          <a:prstGeom prst="rect">
            <a:avLst/>
          </a:prstGeom>
          <a:noFill/>
          <a:ln w="1270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1" u="none" strike="noStrike">
              <a:solidFill>
                <a:srgbClr val="5C62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1"/>
          <p:cNvSpPr/>
          <p:nvPr/>
        </p:nvSpPr>
        <p:spPr>
          <a:xfrm>
            <a:off x="2023168" y="2868222"/>
            <a:ext cx="3889308" cy="320040"/>
          </a:xfrm>
          <a:prstGeom prst="rect">
            <a:avLst/>
          </a:prstGeom>
          <a:noFill/>
          <a:ln w="12700" cap="flat" cmpd="sng">
            <a:solidFill>
              <a:srgbClr val="44546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E9 Alerta en la generación de factura con relación a los saldos producto del cliente</a:t>
            </a:r>
            <a:endParaRPr/>
          </a:p>
        </p:txBody>
      </p:sp>
      <p:sp>
        <p:nvSpPr>
          <p:cNvPr id="506" name="Google Shape;506;p11"/>
          <p:cNvSpPr/>
          <p:nvPr/>
        </p:nvSpPr>
        <p:spPr>
          <a:xfrm>
            <a:off x="1108766" y="3188182"/>
            <a:ext cx="914400" cy="326034"/>
          </a:xfrm>
          <a:prstGeom prst="rect">
            <a:avLst/>
          </a:prstGeom>
          <a:noFill/>
          <a:ln w="12700" cap="flat" cmpd="sng">
            <a:solidFill>
              <a:srgbClr val="44546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Pago a proveedores</a:t>
            </a:r>
            <a:endParaRPr/>
          </a:p>
        </p:txBody>
      </p:sp>
      <p:pic>
        <p:nvPicPr>
          <p:cNvPr id="507" name="Google Shape;507;p11" descr="Bar chart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83421" y="2242855"/>
            <a:ext cx="224742" cy="224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11" descr="Bar chart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83421" y="1595845"/>
            <a:ext cx="224742" cy="224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11" descr="Bar chart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83421" y="2839702"/>
            <a:ext cx="224742" cy="224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11" descr="Bar chart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83421" y="3159740"/>
            <a:ext cx="224742" cy="224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11" descr="Bar chart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83421" y="3501705"/>
            <a:ext cx="224742" cy="224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11" descr="Bar chart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83421" y="3883266"/>
            <a:ext cx="224742" cy="224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11" descr="Bar chart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83421" y="4139179"/>
            <a:ext cx="224742" cy="224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11" descr="Bar chart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83421" y="4436453"/>
            <a:ext cx="224742" cy="224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11" descr="Bar chart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83421" y="5102347"/>
            <a:ext cx="224742" cy="224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11" descr="Bar chart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83421" y="1891783"/>
            <a:ext cx="224742" cy="224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98611" y="6459458"/>
            <a:ext cx="1018748" cy="342221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11"/>
          <p:cNvSpPr/>
          <p:nvPr/>
        </p:nvSpPr>
        <p:spPr>
          <a:xfrm>
            <a:off x="2023168" y="3191179"/>
            <a:ext cx="3889308" cy="320040"/>
          </a:xfrm>
          <a:prstGeom prst="rect">
            <a:avLst/>
          </a:prstGeom>
          <a:noFill/>
          <a:ln w="12700" cap="flat" cmpd="sng">
            <a:solidFill>
              <a:srgbClr val="44546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E14 Automatización del flujo de solicitud de pago de flete</a:t>
            </a:r>
            <a:endParaRPr sz="1200" b="0" i="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1"/>
          <p:cNvSpPr txBox="1"/>
          <p:nvPr/>
        </p:nvSpPr>
        <p:spPr>
          <a:xfrm>
            <a:off x="9448800" y="6483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5" name="Google Shape;525;p12"/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526" name="Google Shape;526;p12"/>
            <p:cNvSpPr/>
            <p:nvPr/>
          </p:nvSpPr>
          <p:spPr>
            <a:xfrm>
              <a:off x="-1" y="0"/>
              <a:ext cx="66896" cy="6858000"/>
            </a:xfrm>
            <a:prstGeom prst="rect">
              <a:avLst/>
            </a:prstGeom>
            <a:solidFill>
              <a:srgbClr val="3B6E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12"/>
            <p:cNvSpPr txBox="1"/>
            <p:nvPr/>
          </p:nvSpPr>
          <p:spPr>
            <a:xfrm>
              <a:off x="66895" y="-1"/>
              <a:ext cx="12125105" cy="517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rgbClr val="3B6E8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		N Digital transformation integrated solution through Microsoft tools</a:t>
              </a:r>
              <a:endParaRPr dirty="0"/>
            </a:p>
          </p:txBody>
        </p:sp>
        <p:cxnSp>
          <p:nvCxnSpPr>
            <p:cNvPr id="528" name="Google Shape;528;p12"/>
            <p:cNvCxnSpPr/>
            <p:nvPr/>
          </p:nvCxnSpPr>
          <p:spPr>
            <a:xfrm rot="10800000" flipH="1">
              <a:off x="65667" y="510139"/>
              <a:ext cx="12126333" cy="21566"/>
            </a:xfrm>
            <a:prstGeom prst="straightConnector1">
              <a:avLst/>
            </a:prstGeom>
            <a:noFill/>
            <a:ln w="12700" cap="flat" cmpd="sng">
              <a:solidFill>
                <a:srgbClr val="3B6E8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529" name="Google Shape;529;p12"/>
          <p:cNvPicPr preferRelativeResize="0"/>
          <p:nvPr/>
        </p:nvPicPr>
        <p:blipFill rotWithShape="1">
          <a:blip r:embed="rId3">
            <a:alphaModFix/>
          </a:blip>
          <a:srcRect r="55799" b="10914"/>
          <a:stretch/>
        </p:blipFill>
        <p:spPr>
          <a:xfrm>
            <a:off x="296388" y="650783"/>
            <a:ext cx="637955" cy="21994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12"/>
          <p:cNvSpPr txBox="1"/>
          <p:nvPr/>
        </p:nvSpPr>
        <p:spPr>
          <a:xfrm>
            <a:off x="8283575" y="2985729"/>
            <a:ext cx="170592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Microsoft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BI</a:t>
            </a:r>
            <a:endParaRPr/>
          </a:p>
        </p:txBody>
      </p:sp>
      <p:pic>
        <p:nvPicPr>
          <p:cNvPr id="531" name="Google Shape;531;p12" descr="Data Visualization | Microsoft Power BI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18024" y="2113664"/>
            <a:ext cx="1414562" cy="742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12" descr="What is Microsoft Power Apps: Highlights and Value - Smartbridge"/>
          <p:cNvPicPr preferRelativeResize="0"/>
          <p:nvPr/>
        </p:nvPicPr>
        <p:blipFill rotWithShape="1">
          <a:blip r:embed="rId5">
            <a:alphaModFix/>
          </a:blip>
          <a:srcRect r="70248"/>
          <a:stretch/>
        </p:blipFill>
        <p:spPr>
          <a:xfrm>
            <a:off x="2383982" y="1832665"/>
            <a:ext cx="650058" cy="971077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12"/>
          <p:cNvSpPr txBox="1"/>
          <p:nvPr/>
        </p:nvSpPr>
        <p:spPr>
          <a:xfrm>
            <a:off x="2078345" y="2861527"/>
            <a:ext cx="2039851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7A2975"/>
                </a:solidFill>
                <a:latin typeface="Arial"/>
                <a:ea typeface="Arial"/>
                <a:cs typeface="Arial"/>
                <a:sym typeface="Arial"/>
              </a:rPr>
              <a:t>Microsoft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Apps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(Model driven app + Canvas)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4" name="Google Shape;534;p12" descr="Sales and Marketing sample for Power BI: Take a tour - Power BI | Microsoft  Learn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19629" y="1805648"/>
            <a:ext cx="2203819" cy="1974936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12"/>
          <p:cNvSpPr/>
          <p:nvPr/>
        </p:nvSpPr>
        <p:spPr>
          <a:xfrm>
            <a:off x="1310154" y="687026"/>
            <a:ext cx="5955152" cy="3621237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2"/>
          <p:cNvSpPr/>
          <p:nvPr/>
        </p:nvSpPr>
        <p:spPr>
          <a:xfrm>
            <a:off x="1803400" y="687027"/>
            <a:ext cx="2226416" cy="574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input</a:t>
            </a:r>
            <a:endParaRPr/>
          </a:p>
        </p:txBody>
      </p:sp>
      <p:sp>
        <p:nvSpPr>
          <p:cNvPr id="537" name="Google Shape;537;p12"/>
          <p:cNvSpPr/>
          <p:nvPr/>
        </p:nvSpPr>
        <p:spPr>
          <a:xfrm>
            <a:off x="160183" y="2478587"/>
            <a:ext cx="1463040" cy="243861"/>
          </a:xfrm>
          <a:prstGeom prst="rect">
            <a:avLst/>
          </a:prstGeom>
          <a:solidFill>
            <a:srgbClr val="3B6E8E"/>
          </a:solidFill>
          <a:ln w="19050" cap="flat" cmpd="sng">
            <a:solidFill>
              <a:srgbClr val="3B6E8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Logística</a:t>
            </a:r>
            <a:endParaRPr/>
          </a:p>
        </p:txBody>
      </p:sp>
      <p:sp>
        <p:nvSpPr>
          <p:cNvPr id="538" name="Google Shape;538;p12"/>
          <p:cNvSpPr/>
          <p:nvPr/>
        </p:nvSpPr>
        <p:spPr>
          <a:xfrm>
            <a:off x="161887" y="2779762"/>
            <a:ext cx="1463040" cy="243861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rgbClr val="44546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Ejecuciones</a:t>
            </a:r>
            <a:endParaRPr/>
          </a:p>
        </p:txBody>
      </p:sp>
      <p:sp>
        <p:nvSpPr>
          <p:cNvPr id="539" name="Google Shape;539;p12"/>
          <p:cNvSpPr/>
          <p:nvPr/>
        </p:nvSpPr>
        <p:spPr>
          <a:xfrm>
            <a:off x="160183" y="2177413"/>
            <a:ext cx="1463040" cy="243861"/>
          </a:xfrm>
          <a:prstGeom prst="rect">
            <a:avLst/>
          </a:prstGeom>
          <a:solidFill>
            <a:srgbClr val="009CAD"/>
          </a:solidFill>
          <a:ln w="1905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Comercial</a:t>
            </a:r>
            <a:endParaRPr/>
          </a:p>
        </p:txBody>
      </p:sp>
      <p:pic>
        <p:nvPicPr>
          <p:cNvPr id="540" name="Google Shape;540;p12" descr="Monitor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18360" y="1739366"/>
            <a:ext cx="1319525" cy="131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12" descr="Monitor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25392" y="4709309"/>
            <a:ext cx="1319525" cy="1319525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12"/>
          <p:cNvSpPr/>
          <p:nvPr/>
        </p:nvSpPr>
        <p:spPr>
          <a:xfrm>
            <a:off x="1322163" y="4637196"/>
            <a:ext cx="5955152" cy="1902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2"/>
          <p:cNvSpPr txBox="1"/>
          <p:nvPr/>
        </p:nvSpPr>
        <p:spPr>
          <a:xfrm>
            <a:off x="2071574" y="5871597"/>
            <a:ext cx="199280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828C"/>
                </a:solidFill>
                <a:latin typeface="Arial"/>
                <a:ea typeface="Arial"/>
                <a:cs typeface="Arial"/>
                <a:sym typeface="Arial"/>
              </a:rPr>
              <a:t>Microsoft Dynamics 365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8828C"/>
                </a:solidFill>
                <a:latin typeface="Arial"/>
                <a:ea typeface="Arial"/>
                <a:cs typeface="Arial"/>
                <a:sym typeface="Arial"/>
              </a:rPr>
              <a:t>Business central</a:t>
            </a:r>
            <a:endParaRPr/>
          </a:p>
        </p:txBody>
      </p:sp>
      <p:sp>
        <p:nvSpPr>
          <p:cNvPr id="544" name="Google Shape;544;p12"/>
          <p:cNvSpPr/>
          <p:nvPr/>
        </p:nvSpPr>
        <p:spPr>
          <a:xfrm>
            <a:off x="173591" y="5164230"/>
            <a:ext cx="1463040" cy="243861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rgbClr val="44546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Ejecuciones</a:t>
            </a:r>
            <a:endParaRPr/>
          </a:p>
        </p:txBody>
      </p:sp>
      <p:sp>
        <p:nvSpPr>
          <p:cNvPr id="545" name="Google Shape;545;p12"/>
          <p:cNvSpPr/>
          <p:nvPr/>
        </p:nvSpPr>
        <p:spPr>
          <a:xfrm>
            <a:off x="173590" y="5443978"/>
            <a:ext cx="1463040" cy="243861"/>
          </a:xfrm>
          <a:prstGeom prst="rect">
            <a:avLst/>
          </a:prstGeom>
          <a:solidFill>
            <a:srgbClr val="5C628F"/>
          </a:solidFill>
          <a:ln w="1905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Contabilidad y finanzas</a:t>
            </a:r>
            <a:endParaRPr/>
          </a:p>
        </p:txBody>
      </p:sp>
      <p:sp>
        <p:nvSpPr>
          <p:cNvPr id="546" name="Google Shape;546;p12"/>
          <p:cNvSpPr/>
          <p:nvPr/>
        </p:nvSpPr>
        <p:spPr>
          <a:xfrm>
            <a:off x="173590" y="5723725"/>
            <a:ext cx="1463040" cy="243861"/>
          </a:xfrm>
          <a:prstGeom prst="rect">
            <a:avLst/>
          </a:prstGeom>
          <a:solidFill>
            <a:srgbClr val="5C628F"/>
          </a:solidFill>
          <a:ln w="19050" cap="flat" cmpd="sng">
            <a:solidFill>
              <a:srgbClr val="5C62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Administración</a:t>
            </a:r>
            <a:endParaRPr/>
          </a:p>
        </p:txBody>
      </p:sp>
      <p:sp>
        <p:nvSpPr>
          <p:cNvPr id="547" name="Google Shape;547;p12"/>
          <p:cNvSpPr/>
          <p:nvPr/>
        </p:nvSpPr>
        <p:spPr>
          <a:xfrm>
            <a:off x="8273552" y="713494"/>
            <a:ext cx="3338623" cy="5727325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2"/>
          <p:cNvSpPr/>
          <p:nvPr/>
        </p:nvSpPr>
        <p:spPr>
          <a:xfrm>
            <a:off x="8993292" y="713494"/>
            <a:ext cx="2028552" cy="574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Automated reports with multiple views</a:t>
            </a:r>
            <a:endParaRPr sz="1600" b="1" i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2"/>
          <p:cNvSpPr txBox="1"/>
          <p:nvPr/>
        </p:nvSpPr>
        <p:spPr>
          <a:xfrm>
            <a:off x="5261114" y="2776888"/>
            <a:ext cx="189846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Centralized Database in Dataverse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2"/>
          <p:cNvSpPr/>
          <p:nvPr/>
        </p:nvSpPr>
        <p:spPr>
          <a:xfrm>
            <a:off x="8993292" y="4483733"/>
            <a:ext cx="194521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 reports</a:t>
            </a:r>
            <a:endParaRPr sz="1400" b="1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2"/>
          <p:cNvSpPr/>
          <p:nvPr/>
        </p:nvSpPr>
        <p:spPr>
          <a:xfrm>
            <a:off x="8557784" y="4365194"/>
            <a:ext cx="2863428" cy="4572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2"/>
          <p:cNvSpPr/>
          <p:nvPr/>
        </p:nvSpPr>
        <p:spPr>
          <a:xfrm>
            <a:off x="6902795" y="4302441"/>
            <a:ext cx="1338709" cy="242067"/>
          </a:xfrm>
          <a:prstGeom prst="rightArrow">
            <a:avLst>
              <a:gd name="adj1" fmla="val 59380"/>
              <a:gd name="adj2" fmla="val 50000"/>
            </a:avLst>
          </a:prstGeom>
          <a:solidFill>
            <a:schemeClr val="dk2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3" name="Google Shape;553;p12" descr="microsoft-power-automate-logo - TechAir"/>
          <p:cNvPicPr preferRelativeResize="0"/>
          <p:nvPr/>
        </p:nvPicPr>
        <p:blipFill rotWithShape="1">
          <a:blip r:embed="rId8">
            <a:alphaModFix/>
          </a:blip>
          <a:srcRect t="26813" b="31983"/>
          <a:stretch/>
        </p:blipFill>
        <p:spPr>
          <a:xfrm>
            <a:off x="3642204" y="3468547"/>
            <a:ext cx="1463040" cy="361691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12"/>
          <p:cNvSpPr txBox="1"/>
          <p:nvPr/>
        </p:nvSpPr>
        <p:spPr>
          <a:xfrm>
            <a:off x="9272329" y="5687839"/>
            <a:ext cx="174321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8828C"/>
                </a:solidFill>
                <a:latin typeface="Arial"/>
                <a:ea typeface="Arial"/>
                <a:cs typeface="Arial"/>
                <a:sym typeface="Arial"/>
              </a:rPr>
              <a:t>Microsoft Dynamics 365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28828C"/>
                </a:solidFill>
                <a:latin typeface="Arial"/>
                <a:ea typeface="Arial"/>
                <a:cs typeface="Arial"/>
                <a:sym typeface="Arial"/>
              </a:rPr>
              <a:t>Business central</a:t>
            </a:r>
            <a:endParaRPr/>
          </a:p>
        </p:txBody>
      </p:sp>
      <p:pic>
        <p:nvPicPr>
          <p:cNvPr id="555" name="Google Shape;555;p12" descr="image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618773" y="1587576"/>
            <a:ext cx="1205540" cy="120554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12"/>
          <p:cNvSpPr txBox="1"/>
          <p:nvPr/>
        </p:nvSpPr>
        <p:spPr>
          <a:xfrm>
            <a:off x="5010738" y="4327556"/>
            <a:ext cx="1438617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integrity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7" name="Google Shape;557;p12" descr="imag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042286" y="1086166"/>
            <a:ext cx="504725" cy="504725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12"/>
          <p:cNvSpPr txBox="1"/>
          <p:nvPr/>
        </p:nvSpPr>
        <p:spPr>
          <a:xfrm>
            <a:off x="3721374" y="1569763"/>
            <a:ext cx="10734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 Management</a:t>
            </a:r>
            <a:endParaRPr/>
          </a:p>
        </p:txBody>
      </p:sp>
      <p:pic>
        <p:nvPicPr>
          <p:cNvPr id="559" name="Google Shape;559;p1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898611" y="6459458"/>
            <a:ext cx="1018748" cy="342221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12"/>
          <p:cNvSpPr txBox="1"/>
          <p:nvPr/>
        </p:nvSpPr>
        <p:spPr>
          <a:xfrm>
            <a:off x="5465986" y="5648064"/>
            <a:ext cx="151111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28828C"/>
                </a:solidFill>
                <a:latin typeface="Arial"/>
                <a:ea typeface="Arial"/>
                <a:cs typeface="Arial"/>
                <a:sym typeface="Arial"/>
              </a:rPr>
              <a:t>Business Central DB</a:t>
            </a:r>
            <a:endParaRPr/>
          </a:p>
        </p:txBody>
      </p:sp>
      <p:pic>
        <p:nvPicPr>
          <p:cNvPr id="561" name="Google Shape;561;p12" descr="Database with solid fill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730047" y="4771905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12"/>
          <p:cNvPicPr preferRelativeResize="0"/>
          <p:nvPr/>
        </p:nvPicPr>
        <p:blipFill rotWithShape="1">
          <a:blip r:embed="rId13">
            <a:alphaModFix/>
          </a:blip>
          <a:srcRect l="18714" t="17698" r="18874" b="14071"/>
          <a:stretch/>
        </p:blipFill>
        <p:spPr>
          <a:xfrm>
            <a:off x="2342071" y="4984159"/>
            <a:ext cx="664715" cy="596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12"/>
          <p:cNvPicPr preferRelativeResize="0"/>
          <p:nvPr/>
        </p:nvPicPr>
        <p:blipFill rotWithShape="1">
          <a:blip r:embed="rId13">
            <a:alphaModFix/>
          </a:blip>
          <a:srcRect l="18714" t="17698" r="18874" b="14071"/>
          <a:stretch/>
        </p:blipFill>
        <p:spPr>
          <a:xfrm>
            <a:off x="9523196" y="4850494"/>
            <a:ext cx="932604" cy="837345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12"/>
          <p:cNvSpPr/>
          <p:nvPr/>
        </p:nvSpPr>
        <p:spPr>
          <a:xfrm>
            <a:off x="6134608" y="4083785"/>
            <a:ext cx="160583" cy="705173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28828C"/>
          </a:solidFill>
          <a:ln w="19050" cap="flat" cmpd="sng">
            <a:solidFill>
              <a:srgbClr val="2882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2"/>
          <p:cNvSpPr txBox="1"/>
          <p:nvPr/>
        </p:nvSpPr>
        <p:spPr>
          <a:xfrm>
            <a:off x="9448800" y="6483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2"/>
          <p:cNvSpPr txBox="1"/>
          <p:nvPr/>
        </p:nvSpPr>
        <p:spPr>
          <a:xfrm>
            <a:off x="3601067" y="3869640"/>
            <a:ext cx="1463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Automations + Data consistency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2" name="Google Shape;572;p13"/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573" name="Google Shape;573;p13"/>
            <p:cNvSpPr/>
            <p:nvPr/>
          </p:nvSpPr>
          <p:spPr>
            <a:xfrm>
              <a:off x="-1" y="0"/>
              <a:ext cx="66896" cy="6858000"/>
            </a:xfrm>
            <a:prstGeom prst="rect">
              <a:avLst/>
            </a:prstGeom>
            <a:solidFill>
              <a:srgbClr val="3B6E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13"/>
            <p:cNvSpPr txBox="1"/>
            <p:nvPr/>
          </p:nvSpPr>
          <p:spPr>
            <a:xfrm>
              <a:off x="66895" y="-1"/>
              <a:ext cx="12125105" cy="517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3B6E8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		Current state: We’ve developed for waves 1 and 2:</a:t>
              </a:r>
              <a:endParaRPr/>
            </a:p>
          </p:txBody>
        </p:sp>
        <p:cxnSp>
          <p:nvCxnSpPr>
            <p:cNvPr id="575" name="Google Shape;575;p13"/>
            <p:cNvCxnSpPr/>
            <p:nvPr/>
          </p:nvCxnSpPr>
          <p:spPr>
            <a:xfrm rot="10800000" flipH="1">
              <a:off x="65667" y="510139"/>
              <a:ext cx="12126333" cy="21566"/>
            </a:xfrm>
            <a:prstGeom prst="straightConnector1">
              <a:avLst/>
            </a:prstGeom>
            <a:noFill/>
            <a:ln w="12700" cap="flat" cmpd="sng">
              <a:solidFill>
                <a:srgbClr val="3B6E8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576" name="Google Shape;576;p13"/>
          <p:cNvPicPr preferRelativeResize="0"/>
          <p:nvPr/>
        </p:nvPicPr>
        <p:blipFill rotWithShape="1">
          <a:blip r:embed="rId3">
            <a:alphaModFix/>
          </a:blip>
          <a:srcRect r="55799" b="10914"/>
          <a:stretch/>
        </p:blipFill>
        <p:spPr>
          <a:xfrm>
            <a:off x="296388" y="650783"/>
            <a:ext cx="637955" cy="21994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13"/>
          <p:cNvSpPr txBox="1"/>
          <p:nvPr/>
        </p:nvSpPr>
        <p:spPr>
          <a:xfrm>
            <a:off x="8283575" y="2985729"/>
            <a:ext cx="170592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Microsoft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BI</a:t>
            </a:r>
            <a:endParaRPr/>
          </a:p>
        </p:txBody>
      </p:sp>
      <p:pic>
        <p:nvPicPr>
          <p:cNvPr id="578" name="Google Shape;578;p13" descr="Data Visualization | Microsoft Power BI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18024" y="2113664"/>
            <a:ext cx="1414562" cy="742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13" descr="What is Microsoft Power Apps: Highlights and Value - Smartbridge"/>
          <p:cNvPicPr preferRelativeResize="0"/>
          <p:nvPr/>
        </p:nvPicPr>
        <p:blipFill rotWithShape="1">
          <a:blip r:embed="rId5">
            <a:alphaModFix/>
          </a:blip>
          <a:srcRect r="70248"/>
          <a:stretch/>
        </p:blipFill>
        <p:spPr>
          <a:xfrm>
            <a:off x="2383982" y="1832665"/>
            <a:ext cx="650058" cy="971077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13"/>
          <p:cNvSpPr txBox="1"/>
          <p:nvPr/>
        </p:nvSpPr>
        <p:spPr>
          <a:xfrm>
            <a:off x="2078345" y="2861527"/>
            <a:ext cx="2039851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7A2975"/>
                </a:solidFill>
                <a:latin typeface="Arial"/>
                <a:ea typeface="Arial"/>
                <a:cs typeface="Arial"/>
                <a:sym typeface="Arial"/>
              </a:rPr>
              <a:t>Microsoft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Apps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(Model driven app + Canvas)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1" name="Google Shape;581;p13" descr="Sales and Marketing sample for Power BI: Take a tour - Power BI | Microsoft  Learn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19629" y="1805648"/>
            <a:ext cx="2203819" cy="1974936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13"/>
          <p:cNvSpPr/>
          <p:nvPr/>
        </p:nvSpPr>
        <p:spPr>
          <a:xfrm>
            <a:off x="1310154" y="687026"/>
            <a:ext cx="5955152" cy="3621237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13"/>
          <p:cNvSpPr/>
          <p:nvPr/>
        </p:nvSpPr>
        <p:spPr>
          <a:xfrm>
            <a:off x="1803400" y="687027"/>
            <a:ext cx="2226416" cy="574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input</a:t>
            </a:r>
            <a:endParaRPr/>
          </a:p>
        </p:txBody>
      </p:sp>
      <p:sp>
        <p:nvSpPr>
          <p:cNvPr id="584" name="Google Shape;584;p13"/>
          <p:cNvSpPr/>
          <p:nvPr/>
        </p:nvSpPr>
        <p:spPr>
          <a:xfrm>
            <a:off x="160183" y="2478587"/>
            <a:ext cx="1463040" cy="243861"/>
          </a:xfrm>
          <a:prstGeom prst="rect">
            <a:avLst/>
          </a:prstGeom>
          <a:solidFill>
            <a:srgbClr val="3B6E8E"/>
          </a:solidFill>
          <a:ln w="19050" cap="flat" cmpd="sng">
            <a:solidFill>
              <a:srgbClr val="3B6E8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Logística</a:t>
            </a:r>
            <a:endParaRPr/>
          </a:p>
        </p:txBody>
      </p:sp>
      <p:sp>
        <p:nvSpPr>
          <p:cNvPr id="585" name="Google Shape;585;p13"/>
          <p:cNvSpPr/>
          <p:nvPr/>
        </p:nvSpPr>
        <p:spPr>
          <a:xfrm>
            <a:off x="161887" y="2779762"/>
            <a:ext cx="1463040" cy="243861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rgbClr val="44546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Ejecuciones</a:t>
            </a:r>
            <a:endParaRPr/>
          </a:p>
        </p:txBody>
      </p:sp>
      <p:sp>
        <p:nvSpPr>
          <p:cNvPr id="586" name="Google Shape;586;p13"/>
          <p:cNvSpPr/>
          <p:nvPr/>
        </p:nvSpPr>
        <p:spPr>
          <a:xfrm>
            <a:off x="160183" y="2177413"/>
            <a:ext cx="1463040" cy="243861"/>
          </a:xfrm>
          <a:prstGeom prst="rect">
            <a:avLst/>
          </a:prstGeom>
          <a:solidFill>
            <a:srgbClr val="009CAD"/>
          </a:solidFill>
          <a:ln w="1905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Comercial</a:t>
            </a:r>
            <a:endParaRPr/>
          </a:p>
        </p:txBody>
      </p:sp>
      <p:pic>
        <p:nvPicPr>
          <p:cNvPr id="587" name="Google Shape;587;p13" descr="Monitor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18360" y="1739366"/>
            <a:ext cx="1319525" cy="1319525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13"/>
          <p:cNvSpPr/>
          <p:nvPr/>
        </p:nvSpPr>
        <p:spPr>
          <a:xfrm>
            <a:off x="8273552" y="713495"/>
            <a:ext cx="3338623" cy="3525478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3"/>
          <p:cNvSpPr/>
          <p:nvPr/>
        </p:nvSpPr>
        <p:spPr>
          <a:xfrm>
            <a:off x="8993292" y="713494"/>
            <a:ext cx="2028552" cy="574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Automated reports with multiple views</a:t>
            </a:r>
            <a:endParaRPr sz="1600" b="1" i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3"/>
          <p:cNvSpPr txBox="1"/>
          <p:nvPr/>
        </p:nvSpPr>
        <p:spPr>
          <a:xfrm>
            <a:off x="5261114" y="2776888"/>
            <a:ext cx="189846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Centralized Database in Dataverse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1" name="Google Shape;591;p13" descr="microsoft-power-automate-logo - TechAir"/>
          <p:cNvPicPr preferRelativeResize="0"/>
          <p:nvPr/>
        </p:nvPicPr>
        <p:blipFill rotWithShape="1">
          <a:blip r:embed="rId8">
            <a:alphaModFix/>
          </a:blip>
          <a:srcRect t="26813" b="31983"/>
          <a:stretch/>
        </p:blipFill>
        <p:spPr>
          <a:xfrm>
            <a:off x="3642204" y="3468547"/>
            <a:ext cx="1463040" cy="361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13" descr="image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618773" y="1587576"/>
            <a:ext cx="1205540" cy="120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13" descr="imag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042286" y="1086166"/>
            <a:ext cx="504725" cy="504725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13"/>
          <p:cNvSpPr txBox="1"/>
          <p:nvPr/>
        </p:nvSpPr>
        <p:spPr>
          <a:xfrm>
            <a:off x="3721374" y="1569763"/>
            <a:ext cx="10734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 Management</a:t>
            </a:r>
            <a:endParaRPr/>
          </a:p>
        </p:txBody>
      </p:sp>
      <p:sp>
        <p:nvSpPr>
          <p:cNvPr id="595" name="Google Shape;595;p13"/>
          <p:cNvSpPr txBox="1"/>
          <p:nvPr/>
        </p:nvSpPr>
        <p:spPr>
          <a:xfrm>
            <a:off x="3601067" y="3869640"/>
            <a:ext cx="1463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Automations + Data consistency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3"/>
          <p:cNvSpPr/>
          <p:nvPr/>
        </p:nvSpPr>
        <p:spPr>
          <a:xfrm>
            <a:off x="7191012" y="2333599"/>
            <a:ext cx="1338709" cy="242067"/>
          </a:xfrm>
          <a:prstGeom prst="rightArrow">
            <a:avLst>
              <a:gd name="adj1" fmla="val 59380"/>
              <a:gd name="adj2" fmla="val 50000"/>
            </a:avLst>
          </a:prstGeom>
          <a:solidFill>
            <a:schemeClr val="dk2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2" name="Google Shape;602;p14"/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603" name="Google Shape;603;p14"/>
            <p:cNvSpPr/>
            <p:nvPr/>
          </p:nvSpPr>
          <p:spPr>
            <a:xfrm>
              <a:off x="-1" y="0"/>
              <a:ext cx="66896" cy="6858000"/>
            </a:xfrm>
            <a:prstGeom prst="rect">
              <a:avLst/>
            </a:prstGeom>
            <a:solidFill>
              <a:srgbClr val="3B6E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14"/>
            <p:cNvSpPr txBox="1"/>
            <p:nvPr/>
          </p:nvSpPr>
          <p:spPr>
            <a:xfrm>
              <a:off x="17735" y="-1"/>
              <a:ext cx="12125105" cy="517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rgbClr val="3B6E8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		Next steps</a:t>
              </a:r>
              <a:endParaRPr dirty="0"/>
            </a:p>
          </p:txBody>
        </p:sp>
        <p:cxnSp>
          <p:nvCxnSpPr>
            <p:cNvPr id="605" name="Google Shape;605;p14"/>
            <p:cNvCxnSpPr/>
            <p:nvPr/>
          </p:nvCxnSpPr>
          <p:spPr>
            <a:xfrm rot="10800000" flipH="1">
              <a:off x="65667" y="510139"/>
              <a:ext cx="12126333" cy="21566"/>
            </a:xfrm>
            <a:prstGeom prst="straightConnector1">
              <a:avLst/>
            </a:prstGeom>
            <a:noFill/>
            <a:ln w="12700" cap="flat" cmpd="sng">
              <a:solidFill>
                <a:srgbClr val="3B6E8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06" name="Google Shape;606;p14"/>
          <p:cNvSpPr/>
          <p:nvPr/>
        </p:nvSpPr>
        <p:spPr>
          <a:xfrm>
            <a:off x="460024" y="4422247"/>
            <a:ext cx="2286000" cy="457200"/>
          </a:xfrm>
          <a:prstGeom prst="rect">
            <a:avLst/>
          </a:prstGeom>
          <a:solidFill>
            <a:srgbClr val="F2F2F2"/>
          </a:solidFill>
          <a:ln w="38100" cap="flat" cmpd="sng">
            <a:solidFill>
              <a:srgbClr val="008D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Infrastructure Set-up</a:t>
            </a:r>
            <a:endParaRPr/>
          </a:p>
        </p:txBody>
      </p:sp>
      <p:sp>
        <p:nvSpPr>
          <p:cNvPr id="607" name="Google Shape;607;p14"/>
          <p:cNvSpPr/>
          <p:nvPr/>
        </p:nvSpPr>
        <p:spPr>
          <a:xfrm>
            <a:off x="460024" y="5047424"/>
            <a:ext cx="2286000" cy="457200"/>
          </a:xfrm>
          <a:prstGeom prst="rect">
            <a:avLst/>
          </a:prstGeom>
          <a:solidFill>
            <a:srgbClr val="F2F2F2"/>
          </a:solidFill>
          <a:ln w="38100" cap="flat" cmpd="sng">
            <a:solidFill>
              <a:srgbClr val="008D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Data model definition</a:t>
            </a:r>
            <a:endParaRPr/>
          </a:p>
        </p:txBody>
      </p:sp>
      <p:sp>
        <p:nvSpPr>
          <p:cNvPr id="608" name="Google Shape;608;p14"/>
          <p:cNvSpPr/>
          <p:nvPr/>
        </p:nvSpPr>
        <p:spPr>
          <a:xfrm>
            <a:off x="2904633" y="4422247"/>
            <a:ext cx="2286000" cy="457200"/>
          </a:xfrm>
          <a:prstGeom prst="rect">
            <a:avLst/>
          </a:prstGeom>
          <a:solidFill>
            <a:srgbClr val="F2F2F2"/>
          </a:solidFill>
          <a:ln w="38100" cap="flat" cmpd="sng">
            <a:solidFill>
              <a:srgbClr val="008D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Data model building in Dataverse</a:t>
            </a:r>
            <a:endParaRPr/>
          </a:p>
        </p:txBody>
      </p:sp>
      <p:sp>
        <p:nvSpPr>
          <p:cNvPr id="609" name="Google Shape;609;p14"/>
          <p:cNvSpPr/>
          <p:nvPr/>
        </p:nvSpPr>
        <p:spPr>
          <a:xfrm>
            <a:off x="460024" y="5706887"/>
            <a:ext cx="2286000" cy="457200"/>
          </a:xfrm>
          <a:prstGeom prst="rect">
            <a:avLst/>
          </a:prstGeom>
          <a:solidFill>
            <a:srgbClr val="F2F2F2"/>
          </a:solidFill>
          <a:ln w="38100" cap="flat" cmpd="sng">
            <a:solidFill>
              <a:srgbClr val="008D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UX/UI Designs</a:t>
            </a:r>
            <a:endParaRPr/>
          </a:p>
        </p:txBody>
      </p:sp>
      <p:sp>
        <p:nvSpPr>
          <p:cNvPr id="610" name="Google Shape;610;p14"/>
          <p:cNvSpPr/>
          <p:nvPr/>
        </p:nvSpPr>
        <p:spPr>
          <a:xfrm>
            <a:off x="5349241" y="6342056"/>
            <a:ext cx="2286000" cy="457200"/>
          </a:xfrm>
          <a:prstGeom prst="rect">
            <a:avLst/>
          </a:prstGeom>
          <a:noFill/>
          <a:ln w="38100" cap="flat" cmpd="sng">
            <a:solidFill>
              <a:srgbClr val="008D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Reports</a:t>
            </a:r>
            <a:endParaRPr/>
          </a:p>
        </p:txBody>
      </p:sp>
      <p:sp>
        <p:nvSpPr>
          <p:cNvPr id="611" name="Google Shape;611;p14"/>
          <p:cNvSpPr/>
          <p:nvPr/>
        </p:nvSpPr>
        <p:spPr>
          <a:xfrm>
            <a:off x="5349241" y="5706887"/>
            <a:ext cx="2286000" cy="457200"/>
          </a:xfrm>
          <a:prstGeom prst="rect">
            <a:avLst/>
          </a:prstGeom>
          <a:noFill/>
          <a:ln w="38100" cap="flat" cmpd="sng">
            <a:solidFill>
              <a:srgbClr val="008D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Notifications Automations</a:t>
            </a:r>
            <a:endParaRPr/>
          </a:p>
        </p:txBody>
      </p:sp>
      <p:sp>
        <p:nvSpPr>
          <p:cNvPr id="612" name="Google Shape;612;p14"/>
          <p:cNvSpPr/>
          <p:nvPr/>
        </p:nvSpPr>
        <p:spPr>
          <a:xfrm>
            <a:off x="2904633" y="5706887"/>
            <a:ext cx="2286000" cy="457200"/>
          </a:xfrm>
          <a:prstGeom prst="rect">
            <a:avLst/>
          </a:prstGeom>
          <a:noFill/>
          <a:ln w="38100" cap="flat" cmpd="sng">
            <a:solidFill>
              <a:srgbClr val="008D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Business Process Flows</a:t>
            </a:r>
            <a:endParaRPr/>
          </a:p>
        </p:txBody>
      </p:sp>
      <p:sp>
        <p:nvSpPr>
          <p:cNvPr id="613" name="Google Shape;613;p14"/>
          <p:cNvSpPr/>
          <p:nvPr/>
        </p:nvSpPr>
        <p:spPr>
          <a:xfrm>
            <a:off x="5349241" y="4422247"/>
            <a:ext cx="2286000" cy="457200"/>
          </a:xfrm>
          <a:prstGeom prst="rect">
            <a:avLst/>
          </a:prstGeom>
          <a:noFill/>
          <a:ln w="38100" cap="flat" cmpd="sng">
            <a:solidFill>
              <a:srgbClr val="008D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Futures groupings automation (Dataflow)</a:t>
            </a:r>
            <a:endParaRPr sz="1200" i="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4"/>
          <p:cNvSpPr/>
          <p:nvPr/>
        </p:nvSpPr>
        <p:spPr>
          <a:xfrm>
            <a:off x="2904633" y="5047424"/>
            <a:ext cx="2286000" cy="457200"/>
          </a:xfrm>
          <a:prstGeom prst="rect">
            <a:avLst/>
          </a:prstGeom>
          <a:noFill/>
          <a:ln w="38100" cap="flat" cmpd="sng">
            <a:solidFill>
              <a:srgbClr val="008D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Model Driven App build</a:t>
            </a:r>
            <a:endParaRPr/>
          </a:p>
        </p:txBody>
      </p:sp>
      <p:sp>
        <p:nvSpPr>
          <p:cNvPr id="615" name="Google Shape;615;p14"/>
          <p:cNvSpPr/>
          <p:nvPr/>
        </p:nvSpPr>
        <p:spPr>
          <a:xfrm>
            <a:off x="5349241" y="5047424"/>
            <a:ext cx="2286000" cy="457200"/>
          </a:xfrm>
          <a:prstGeom prst="rect">
            <a:avLst/>
          </a:prstGeom>
          <a:noFill/>
          <a:ln w="38100" cap="flat" cmpd="sng">
            <a:solidFill>
              <a:srgbClr val="008D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Currency and Exchange rate Automation (API Dataflow)</a:t>
            </a:r>
            <a:endParaRPr sz="1200" i="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4"/>
          <p:cNvSpPr txBox="1"/>
          <p:nvPr/>
        </p:nvSpPr>
        <p:spPr>
          <a:xfrm>
            <a:off x="8283575" y="2985729"/>
            <a:ext cx="170592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Microsoft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BI</a:t>
            </a:r>
            <a:endParaRPr/>
          </a:p>
        </p:txBody>
      </p:sp>
      <p:pic>
        <p:nvPicPr>
          <p:cNvPr id="617" name="Google Shape;617;p14" descr="Data Visualization | Microsoft Power BI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18024" y="2113664"/>
            <a:ext cx="1414562" cy="742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14" descr="What is Microsoft Power Apps: Highlights and Value - Smartbridge"/>
          <p:cNvPicPr preferRelativeResize="0"/>
          <p:nvPr/>
        </p:nvPicPr>
        <p:blipFill rotWithShape="1">
          <a:blip r:embed="rId4">
            <a:alphaModFix/>
          </a:blip>
          <a:srcRect r="70248"/>
          <a:stretch/>
        </p:blipFill>
        <p:spPr>
          <a:xfrm>
            <a:off x="2383982" y="1832665"/>
            <a:ext cx="650058" cy="971077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14"/>
          <p:cNvSpPr txBox="1"/>
          <p:nvPr/>
        </p:nvSpPr>
        <p:spPr>
          <a:xfrm>
            <a:off x="2078345" y="2861527"/>
            <a:ext cx="2039851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7A2975"/>
                </a:solidFill>
                <a:latin typeface="Arial"/>
                <a:ea typeface="Arial"/>
                <a:cs typeface="Arial"/>
                <a:sym typeface="Arial"/>
              </a:rPr>
              <a:t>Microsoft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Apps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(Model driven app + Canvas)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0" name="Google Shape;620;p14" descr="Sales and Marketing sample for Power BI: Take a tour - Power BI | Microsoft  Lear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19629" y="1805648"/>
            <a:ext cx="2203819" cy="1974936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14"/>
          <p:cNvSpPr/>
          <p:nvPr/>
        </p:nvSpPr>
        <p:spPr>
          <a:xfrm>
            <a:off x="1310154" y="687026"/>
            <a:ext cx="5955152" cy="3621237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14"/>
          <p:cNvSpPr/>
          <p:nvPr/>
        </p:nvSpPr>
        <p:spPr>
          <a:xfrm>
            <a:off x="1803400" y="687027"/>
            <a:ext cx="2226416" cy="574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input</a:t>
            </a:r>
            <a:endParaRPr/>
          </a:p>
        </p:txBody>
      </p:sp>
      <p:sp>
        <p:nvSpPr>
          <p:cNvPr id="623" name="Google Shape;623;p14"/>
          <p:cNvSpPr/>
          <p:nvPr/>
        </p:nvSpPr>
        <p:spPr>
          <a:xfrm>
            <a:off x="160183" y="2478587"/>
            <a:ext cx="1463040" cy="243861"/>
          </a:xfrm>
          <a:prstGeom prst="rect">
            <a:avLst/>
          </a:prstGeom>
          <a:solidFill>
            <a:srgbClr val="3B6E8E"/>
          </a:solidFill>
          <a:ln w="19050" cap="flat" cmpd="sng">
            <a:solidFill>
              <a:srgbClr val="3B6E8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Logística</a:t>
            </a:r>
            <a:endParaRPr/>
          </a:p>
        </p:txBody>
      </p:sp>
      <p:sp>
        <p:nvSpPr>
          <p:cNvPr id="624" name="Google Shape;624;p14"/>
          <p:cNvSpPr/>
          <p:nvPr/>
        </p:nvSpPr>
        <p:spPr>
          <a:xfrm>
            <a:off x="161887" y="2779762"/>
            <a:ext cx="1463040" cy="243861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rgbClr val="44546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Ejecuciones</a:t>
            </a:r>
            <a:endParaRPr/>
          </a:p>
        </p:txBody>
      </p:sp>
      <p:sp>
        <p:nvSpPr>
          <p:cNvPr id="625" name="Google Shape;625;p14"/>
          <p:cNvSpPr/>
          <p:nvPr/>
        </p:nvSpPr>
        <p:spPr>
          <a:xfrm>
            <a:off x="160183" y="2177413"/>
            <a:ext cx="1463040" cy="243861"/>
          </a:xfrm>
          <a:prstGeom prst="rect">
            <a:avLst/>
          </a:prstGeom>
          <a:solidFill>
            <a:srgbClr val="009CAD"/>
          </a:solidFill>
          <a:ln w="1905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Comercial</a:t>
            </a:r>
            <a:endParaRPr/>
          </a:p>
        </p:txBody>
      </p:sp>
      <p:pic>
        <p:nvPicPr>
          <p:cNvPr id="626" name="Google Shape;626;p14" descr="Monitor with solid fil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18360" y="1739366"/>
            <a:ext cx="1319525" cy="1319525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14"/>
          <p:cNvSpPr/>
          <p:nvPr/>
        </p:nvSpPr>
        <p:spPr>
          <a:xfrm>
            <a:off x="8273552" y="713495"/>
            <a:ext cx="3338623" cy="3525478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009CA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14"/>
          <p:cNvSpPr/>
          <p:nvPr/>
        </p:nvSpPr>
        <p:spPr>
          <a:xfrm>
            <a:off x="8993292" y="713494"/>
            <a:ext cx="2028552" cy="574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Automated reports with multiple views</a:t>
            </a:r>
            <a:endParaRPr sz="1600" b="1" i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14"/>
          <p:cNvSpPr txBox="1"/>
          <p:nvPr/>
        </p:nvSpPr>
        <p:spPr>
          <a:xfrm>
            <a:off x="5261114" y="2776888"/>
            <a:ext cx="189846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Centralized Database in Dataverse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0" name="Google Shape;630;p14" descr="microsoft-power-automate-logo - TechAir"/>
          <p:cNvPicPr preferRelativeResize="0"/>
          <p:nvPr/>
        </p:nvPicPr>
        <p:blipFill rotWithShape="1">
          <a:blip r:embed="rId7">
            <a:alphaModFix/>
          </a:blip>
          <a:srcRect t="26813" b="31983"/>
          <a:stretch/>
        </p:blipFill>
        <p:spPr>
          <a:xfrm>
            <a:off x="3642204" y="3468547"/>
            <a:ext cx="1463040" cy="361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14" descr="imag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18773" y="1587576"/>
            <a:ext cx="1205540" cy="120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14" descr="image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42286" y="1086166"/>
            <a:ext cx="504725" cy="504725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14"/>
          <p:cNvSpPr txBox="1"/>
          <p:nvPr/>
        </p:nvSpPr>
        <p:spPr>
          <a:xfrm>
            <a:off x="3721374" y="1569763"/>
            <a:ext cx="10734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 Management</a:t>
            </a:r>
            <a:endParaRPr/>
          </a:p>
        </p:txBody>
      </p:sp>
      <p:sp>
        <p:nvSpPr>
          <p:cNvPr id="634" name="Google Shape;634;p14"/>
          <p:cNvSpPr txBox="1"/>
          <p:nvPr/>
        </p:nvSpPr>
        <p:spPr>
          <a:xfrm>
            <a:off x="3601067" y="3869640"/>
            <a:ext cx="1463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Automations + Data consistency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14"/>
          <p:cNvSpPr/>
          <p:nvPr/>
        </p:nvSpPr>
        <p:spPr>
          <a:xfrm>
            <a:off x="7191012" y="2333599"/>
            <a:ext cx="1338709" cy="242067"/>
          </a:xfrm>
          <a:prstGeom prst="rightArrow">
            <a:avLst>
              <a:gd name="adj1" fmla="val 59380"/>
              <a:gd name="adj2" fmla="val 50000"/>
            </a:avLst>
          </a:prstGeom>
          <a:solidFill>
            <a:schemeClr val="dk2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14"/>
          <p:cNvSpPr/>
          <p:nvPr/>
        </p:nvSpPr>
        <p:spPr>
          <a:xfrm>
            <a:off x="2904633" y="6342056"/>
            <a:ext cx="2286000" cy="457200"/>
          </a:xfrm>
          <a:prstGeom prst="rect">
            <a:avLst/>
          </a:prstGeom>
          <a:noFill/>
          <a:ln w="38100" cap="flat" cmpd="sng">
            <a:solidFill>
              <a:srgbClr val="008D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Canvas app + Javascrip</a:t>
            </a: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 for Opportunity closure experience</a:t>
            </a:r>
            <a:endParaRPr sz="1200" i="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14"/>
          <p:cNvSpPr/>
          <p:nvPr/>
        </p:nvSpPr>
        <p:spPr>
          <a:xfrm>
            <a:off x="460024" y="6342056"/>
            <a:ext cx="2286000" cy="457200"/>
          </a:xfrm>
          <a:prstGeom prst="rect">
            <a:avLst/>
          </a:prstGeom>
          <a:solidFill>
            <a:srgbClr val="F2F2F2"/>
          </a:solidFill>
          <a:ln w="38100" cap="flat" cmpd="sng">
            <a:solidFill>
              <a:srgbClr val="008D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Business rules for enhanced experience</a:t>
            </a:r>
            <a:endParaRPr/>
          </a:p>
        </p:txBody>
      </p:sp>
      <p:pic>
        <p:nvPicPr>
          <p:cNvPr id="638" name="Google Shape;638;p1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41828" y="4495820"/>
            <a:ext cx="3166129" cy="218677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pic>
        <p:nvPicPr>
          <p:cNvPr id="639" name="Google Shape;639;p14"/>
          <p:cNvPicPr preferRelativeResize="0"/>
          <p:nvPr/>
        </p:nvPicPr>
        <p:blipFill rotWithShape="1">
          <a:blip r:embed="rId11">
            <a:alphaModFix/>
          </a:blip>
          <a:srcRect r="55799" b="10914"/>
          <a:stretch/>
        </p:blipFill>
        <p:spPr>
          <a:xfrm>
            <a:off x="296388" y="650783"/>
            <a:ext cx="637955" cy="219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1375</Words>
  <Application>Microsoft Office PowerPoint</Application>
  <PresentationFormat>Widescreen</PresentationFormat>
  <Paragraphs>340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Quattrocento Sans</vt:lpstr>
      <vt:lpstr>Play</vt:lpstr>
      <vt:lpstr>Office Theme</vt:lpstr>
      <vt:lpstr>1_Office Theme</vt:lpstr>
      <vt:lpstr>2_Office Theme</vt:lpstr>
      <vt:lpstr>PowerPoint Presentation</vt:lpstr>
      <vt:lpstr>The Team</vt:lpstr>
      <vt:lpstr>PowerPoint Presentation</vt:lpstr>
      <vt:lpstr>PowerPoint Presentation</vt:lpstr>
      <vt:lpstr>PowerPoint Presentation</vt:lpstr>
      <vt:lpstr>Client pains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Federico Leal</dc:creator>
  <cp:lastModifiedBy>Federico   Leal Quintero</cp:lastModifiedBy>
  <cp:revision>1</cp:revision>
  <dcterms:created xsi:type="dcterms:W3CDTF">2024-03-06T15:50:26Z</dcterms:created>
  <dcterms:modified xsi:type="dcterms:W3CDTF">2026-01-29T02:18:48Z</dcterms:modified>
</cp:coreProperties>
</file>